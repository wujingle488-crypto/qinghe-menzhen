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7C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6583680" cy="6583680"/>
          </a:xfrm>
          <a:prstGeom prst="ellipse">
            <a:avLst/>
          </a:prstGeom>
          <a:solidFill>
            <a:srgbClr val="139AA8"/>
          </a:solidFill>
          <a:ln w="12700">
            <a:solidFill>
              <a:srgbClr val="13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822960"/>
            <a:ext cx="5029200" cy="5029200"/>
          </a:xfrm>
          <a:prstGeom prst="ellipse">
            <a:avLst/>
          </a:prstGeom>
          <a:solidFill>
            <a:srgbClr val="1EB1AE"/>
          </a:solidFill>
          <a:ln w="12700">
            <a:solidFill>
              <a:srgbClr val="1EB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19989F"/>
          </a:solidFill>
          <a:ln w="12700">
            <a:solidFill>
              <a:srgbClr val="199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15568"/>
            <a:ext cx="2011680" cy="329184"/>
          </a:xfrm>
          <a:prstGeom prst="roundRect">
            <a:avLst/>
          </a:prstGeom>
          <a:solidFill>
            <a:srgbClr val="1B9CA4"/>
          </a:solidFill>
          <a:ln w="12700">
            <a:solidFill>
              <a:srgbClr val="1B9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20116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软件工程课程 · 小组项目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64208"/>
            <a:ext cx="60350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67712"/>
            <a:ext cx="60350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智能问诊系统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58521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EAFBFA"/>
                </a:solidFill>
                <a:latin typeface="Microsoft YaHei"/>
              </a:rPr>
              <a:t>单 Agent · RAG 知识增强 · Java 安全门禁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75887"/>
            <a:ext cx="53949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DF4F2"/>
                </a:solidFill>
                <a:latin typeface="Microsoft YaHei"/>
              </a:rPr>
              <a:t>教学演示，不替代面诊，不生成真实处方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09160"/>
            <a:ext cx="5029200" cy="1051560"/>
          </a:xfrm>
          <a:prstGeom prst="roundRect">
            <a:avLst/>
          </a:prstGeom>
          <a:solidFill>
            <a:srgbClr val="108797"/>
          </a:solidFill>
          <a:ln w="12700">
            <a:solidFill>
              <a:srgbClr val="32B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65192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小组：________________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965192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成员：________________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376672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6F1EF"/>
                </a:solidFill>
                <a:latin typeface="Microsoft YaHei"/>
              </a:rPr>
              <a:t>2026 · 课堂汇报</a:t>
            </a:r>
          </a:p>
        </p:txBody>
      </p:sp>
      <p:sp>
        <p:nvSpPr>
          <p:cNvPr id="17" name="Oval 16"/>
          <p:cNvSpPr/>
          <p:nvPr/>
        </p:nvSpPr>
        <p:spPr>
          <a:xfrm>
            <a:off x="7342631" y="841248"/>
            <a:ext cx="4224528" cy="4224528"/>
          </a:xfrm>
          <a:prstGeom prst="ellipse">
            <a:avLst/>
          </a:prstGeom>
          <a:solidFill>
            <a:srgbClr val="F4FEFD"/>
          </a:solidFill>
          <a:ln w="12700">
            <a:solidFill>
              <a:srgbClr val="B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i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1078992"/>
            <a:ext cx="3657600" cy="3657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44968" y="5001768"/>
            <a:ext cx="34747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AI 让医疗更有温度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542239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BEEFEC"/>
                </a:solidFill>
                <a:latin typeface="Microsoft YaHei"/>
              </a:rPr>
              <a:t>QINGHE CLINIC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02 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为什么做青禾门诊？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从通用聊天走向“有知识、有门禁、可回归”的问诊系统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920240"/>
            <a:ext cx="3657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76272"/>
            <a:ext cx="1005840" cy="329184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FF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10058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现实问题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3017520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B5C"/>
                </a:solidFill>
                <a:latin typeface="Microsoft YaHei"/>
              </a:rPr>
              <a:t>通用聊天模型
能回答，但不一定安全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0448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794760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用户往往无法一次说清病情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37997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270248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回答可能缺少权威依据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855464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745736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危急症状不能继续“给方案”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330952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221224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模型或检索宕机会打断演示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029968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87C92"/>
                </a:solidFill>
                <a:latin typeface="Microsoft YaHei"/>
              </a:rPr>
              <a:t>我们的回答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0288" y="2487168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91455" y="2688336"/>
            <a:ext cx="402336" cy="402336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5" y="2688336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2651760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多轮问诊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7" y="3017520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主动追问时长、部位、发热等关键槽位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2487168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2688336"/>
            <a:ext cx="402336" cy="402336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88336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2651760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知识增强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3017520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RAG 取回资料后再组织回答，并显示出处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0288" y="4142232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1455" y="4343400"/>
            <a:ext cx="402336" cy="402336"/>
          </a:xfrm>
          <a:prstGeom prst="ellips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5" y="4343400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7" y="4306824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安全门禁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4672584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红旗只导向急诊；药品必须经过白名单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65592" y="4142232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66760" y="4343400"/>
            <a:ext cx="402336" cy="402336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343400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4306824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完整系统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4672584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就诊卡、历史、知识库、语音与图片协同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03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用户、用例与范围边界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先把“做什么”与“不做什么”说清楚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12264"/>
            <a:ext cx="603504" cy="60350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演示患者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文字 / 语音 / 图片描述不适
查看建议与历史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2112264"/>
            <a:ext cx="603504" cy="603504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医学编辑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浏览、检索和补充知识库
维护教学资料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2112264"/>
            <a:ext cx="603504" cy="603504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答辩评委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观察主链路、安全行为
验证系统工作量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47288"/>
            <a:ext cx="11000232" cy="1170432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C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02736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核心用例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新建会话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99232" y="3840480"/>
            <a:ext cx="283464" cy="0"/>
          </a:xfrm>
          <a:prstGeom prst="line">
            <a:avLst/>
          </a:prstGeom>
          <a:ln w="19050">
            <a:solidFill>
              <a:srgbClr val="1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355848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F72BE"/>
                </a:solidFill>
                <a:latin typeface="Microsoft YaHei"/>
              </a:rPr>
              <a:t>多轮描述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0" y="3840480"/>
            <a:ext cx="283464" cy="0"/>
          </a:xfrm>
          <a:prstGeom prst="line">
            <a:avLst/>
          </a:prstGeom>
          <a:ln w="19050">
            <a:solidFill>
              <a:srgbClr val="3F7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928616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7763CD"/>
                </a:solidFill>
                <a:latin typeface="Microsoft YaHei"/>
              </a:rPr>
              <a:t>RAG 检索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44768" y="3840480"/>
            <a:ext cx="283463" cy="0"/>
          </a:xfrm>
          <a:prstGeom prst="line">
            <a:avLst/>
          </a:prstGeom>
          <a:ln w="19050">
            <a:solidFill>
              <a:srgbClr val="776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1384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安全门禁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7536" y="3840480"/>
            <a:ext cx="283464" cy="0"/>
          </a:xfrm>
          <a:prstGeom prst="line">
            <a:avLst/>
          </a:prstGeom>
          <a:ln w="1905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74152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74152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建议卡片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90304" y="3840480"/>
            <a:ext cx="283464" cy="0"/>
          </a:xfrm>
          <a:prstGeom prst="line">
            <a:avLst/>
          </a:prstGeom>
          <a:ln w="19050">
            <a:solidFill>
              <a:srgbClr val="2B9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46919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19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历史沉淀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892040"/>
            <a:ext cx="52578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08406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B997A"/>
                </a:solidFill>
                <a:latin typeface="Microsoft YaHei"/>
              </a:rPr>
              <a:t>✓  范围内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42239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5677D"/>
                </a:solidFill>
                <a:latin typeface="Microsoft YaHei"/>
              </a:rPr>
              <a:t>问诊 · RAG · 门禁 · 就诊卡 · 知识库 · 多媒体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4892040"/>
            <a:ext cx="5449824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6" y="508406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D4554"/>
                </a:solidFill>
                <a:latin typeface="Microsoft YaHei"/>
              </a:rPr>
              <a:t>×  范围外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542239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5677D"/>
                </a:solidFill>
                <a:latin typeface="Microsoft YaHei"/>
              </a:rPr>
              <a:t>真实诊疗 · 电子处方 · 医保结算 · 自由开药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04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总体架构：前后端分离，安全能力落在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必开组件精简；检索与图谱可缺席降级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874519" cy="713232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表现层 · React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问诊页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就诊卡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8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4456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34456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历史侧栏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4304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4304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SSE 卡片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88920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2788920"/>
            <a:ext cx="1874519" cy="713232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2788920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应用层 · Spring Boot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REST / SSE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ConsultOrchestrator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64608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Profile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4456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4456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Media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04304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Knowledge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703320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3703320"/>
            <a:ext cx="1874519" cy="713232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703320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领域层 · domain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24912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SafetyGate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94760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白名单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64608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红旗否定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34456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34456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会话记忆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04304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4304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就诊卡规则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874519"/>
            <a:ext cx="290779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2084831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外部能力</a:t>
            </a:r>
          </a:p>
        </p:txBody>
      </p:sp>
      <p:sp>
        <p:nvSpPr>
          <p:cNvPr id="48" name="Oval 47"/>
          <p:cNvSpPr/>
          <p:nvPr/>
        </p:nvSpPr>
        <p:spPr>
          <a:xfrm>
            <a:off x="8961120" y="2578608"/>
            <a:ext cx="310896" cy="310896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2569464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LLM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2569464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追问与生成</a:t>
            </a:r>
          </a:p>
        </p:txBody>
      </p:sp>
      <p:sp>
        <p:nvSpPr>
          <p:cNvPr id="51" name="Oval 50"/>
          <p:cNvSpPr/>
          <p:nvPr/>
        </p:nvSpPr>
        <p:spPr>
          <a:xfrm>
            <a:off x="8961120" y="3154679"/>
            <a:ext cx="310896" cy="310896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RAG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145536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向量 / 关键词 / 图谱</a:t>
            </a:r>
          </a:p>
        </p:txBody>
      </p:sp>
      <p:sp>
        <p:nvSpPr>
          <p:cNvPr id="54" name="Oval 53"/>
          <p:cNvSpPr/>
          <p:nvPr/>
        </p:nvSpPr>
        <p:spPr>
          <a:xfrm>
            <a:off x="8961120" y="3730752"/>
            <a:ext cx="310896" cy="310896"/>
          </a:xfrm>
          <a:prstGeom prst="ellipse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3721608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多媒体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72160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语音转写 / 图片观察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4700016"/>
            <a:ext cx="10917936" cy="676656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B7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" y="4700016"/>
            <a:ext cx="128016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F72BE"/>
                </a:solidFill>
                <a:latin typeface="Microsoft YaHei"/>
              </a:rPr>
              <a:t>MySQL 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48840" y="4700016"/>
            <a:ext cx="566928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5677D"/>
                </a:solidFill>
                <a:latin typeface="Microsoft YaHei"/>
              </a:rPr>
              <a:t>会话 · 消息 · 就诊卡 · 病/症/药/红旗 · 知识底账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12680" y="4873752"/>
            <a:ext cx="640080" cy="329184"/>
          </a:xfrm>
          <a:prstGeom prst="roundRect">
            <a:avLst/>
          </a:prstGeom>
          <a:solidFill>
            <a:srgbClr val="E7F7F0"/>
          </a:solidFill>
          <a:ln w="12700">
            <a:solidFill>
              <a:srgbClr val="E7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4873752"/>
            <a:ext cx="640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必开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5623560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7C92"/>
                </a:solidFill>
                <a:latin typeface="Microsoft YaHei"/>
              </a:rPr>
              <a:t>开发部署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91640" y="562356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5173  前端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0" y="562356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8082  后端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0520" y="5623560"/>
            <a:ext cx="12801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3306  MySQL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60" y="5623560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894A6"/>
                </a:solidFill>
                <a:latin typeface="Microsoft YaHei"/>
              </a:rPr>
              <a:t>8000/8001  向量（可选）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5623560"/>
            <a:ext cx="1645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894A6"/>
                </a:solidFill>
                <a:latin typeface="Microsoft YaHei"/>
              </a:rPr>
              <a:t>7687  图谱（可选）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05  CORE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主链路：LLM → RAG → 生成 → 门禁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串行而非三路并行；门禁是输出前不可绕过的最后一道质检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487168"/>
            <a:ext cx="384048" cy="384048"/>
          </a:xfrm>
          <a:prstGeom prst="ellipse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用户输入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症状 / 时长 / 发热
+ 可选就诊卡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310128"/>
            <a:ext cx="219456" cy="0"/>
          </a:xfrm>
          <a:prstGeom prst="line">
            <a:avLst/>
          </a:prstGeom>
          <a:ln w="25400">
            <a:solidFill>
              <a:srgbClr val="087C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1448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96896" y="2487168"/>
            <a:ext cx="384048" cy="384048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LLM 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决定追问或作答
保持同一会话上下文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87368" y="3310128"/>
            <a:ext cx="219456" cy="0"/>
          </a:xfrm>
          <a:prstGeom prst="line">
            <a:avLst/>
          </a:prstGeom>
          <a:ln w="25400">
            <a:solidFill>
              <a:srgbClr val="3F7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9976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35424" y="2487168"/>
            <a:ext cx="384048" cy="384048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RAG 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向量 + 关键词 + 图谱
融合相关资料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25896" y="3310128"/>
            <a:ext cx="219456" cy="0"/>
          </a:xfrm>
          <a:prstGeom prst="line">
            <a:avLst/>
          </a:prstGeom>
          <a:ln w="25400">
            <a:solidFill>
              <a:srgbClr val="776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18504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3952" y="2487168"/>
            <a:ext cx="384048" cy="384048"/>
          </a:xfrm>
          <a:prstGeom prst="ellipse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LLM 草稿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诊断参考 / 处理建议
拟推荐药品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64424" y="3310128"/>
            <a:ext cx="219455" cy="0"/>
          </a:xfrm>
          <a:prstGeom prst="line">
            <a:avLst/>
          </a:prstGeom>
          <a:ln w="25400">
            <a:solidFill>
              <a:srgbClr val="E79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57032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0" y="2487168"/>
            <a:ext cx="384048" cy="384048"/>
          </a:xfrm>
          <a:prstGeom prst="ellips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Java 门禁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红旗？白名单？
表述是否安全？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02952" y="3310128"/>
            <a:ext cx="219456" cy="0"/>
          </a:xfrm>
          <a:prstGeom prst="line">
            <a:avLst/>
          </a:prstGeom>
          <a:ln w="2540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195560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51008" y="2487168"/>
            <a:ext cx="384048" cy="384048"/>
          </a:xfrm>
          <a:prstGeom prst="ellipse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51008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0152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结构化卡片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0152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通过则返回
不通过改写就医建议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89136" y="4315968"/>
            <a:ext cx="0" cy="420624"/>
          </a:xfrm>
          <a:prstGeom prst="line">
            <a:avLst/>
          </a:prstGeom>
          <a:ln w="2286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31152" y="4754880"/>
            <a:ext cx="4343400" cy="713232"/>
          </a:xfrm>
          <a:prstGeom prst="roundRect">
            <a:avLst/>
          </a:prstGeom>
          <a:solidFill>
            <a:srgbClr val="FFF4F5"/>
          </a:solidFill>
          <a:ln w="12700">
            <a:solidFill>
              <a:srgbClr val="F4C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50608" y="4754880"/>
            <a:ext cx="38862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D4554"/>
                </a:solidFill>
                <a:latin typeface="Microsoft YaHei"/>
              </a:rPr>
              <a:t>红旗命中：不诊断、不开药，只导向急诊 / 120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974336"/>
            <a:ext cx="5989320" cy="8412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5138928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87C92"/>
                </a:solidFill>
                <a:latin typeface="Microsoft YaHei"/>
              </a:rPr>
              <a:t>优雅降级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074920"/>
            <a:ext cx="44348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向量/图谱可缺席 → 关键词/MySQL 兜底；系统变笨，但不能变危险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06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功能演示：四条路径，讲清系统完整性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建议现场依次演示普通问诊 → 红旗 → 否定纠错 → 就诊卡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01952"/>
            <a:ext cx="562356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问诊界面.png"/>
          <p:cNvPicPr>
            <a:picLocks noChangeAspect="1"/>
          </p:cNvPicPr>
          <p:nvPr/>
        </p:nvPicPr>
        <p:blipFill>
          <a:blip r:embed="rId2"/>
          <a:srcRect l="6427" r="6427"/>
          <a:stretch>
            <a:fillRect/>
          </a:stretch>
        </p:blipFill>
        <p:spPr>
          <a:xfrm>
            <a:off x="576072" y="1975104"/>
            <a:ext cx="5477256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" y="5715000"/>
            <a:ext cx="533095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5715000"/>
            <a:ext cx="533095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① 问诊主界面 + 历史侧栏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901952"/>
            <a:ext cx="53309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__Users_____AppData_Roaming_Cursor_User_workspaceStorage_eb80d56d9d0cf8300e47dabaf73dfb88_images_image-6c300e95-9abc-4092-9f18-04d83476bcee.png"/>
          <p:cNvPicPr>
            <a:picLocks noChangeAspect="1"/>
          </p:cNvPicPr>
          <p:nvPr/>
        </p:nvPicPr>
        <p:blipFill>
          <a:blip r:embed="rId3"/>
          <a:srcRect t="13615" b="13615"/>
          <a:stretch>
            <a:fillRect/>
          </a:stretch>
        </p:blipFill>
        <p:spPr>
          <a:xfrm>
            <a:off x="6400800" y="1975104"/>
            <a:ext cx="5184648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73952" y="3063239"/>
            <a:ext cx="5038344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063239"/>
            <a:ext cx="503834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② 红旗只导向急诊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685032"/>
            <a:ext cx="5330952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就诊卡界面.jpg"/>
          <p:cNvPicPr>
            <a:picLocks noChangeAspect="1"/>
          </p:cNvPicPr>
          <p:nvPr/>
        </p:nvPicPr>
        <p:blipFill>
          <a:blip r:embed="rId4"/>
          <a:srcRect t="23441" b="23441"/>
          <a:stretch>
            <a:fillRect/>
          </a:stretch>
        </p:blipFill>
        <p:spPr>
          <a:xfrm>
            <a:off x="6400800" y="3758184"/>
            <a:ext cx="5184648" cy="187451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473952" y="5715000"/>
            <a:ext cx="5038344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5715000"/>
            <a:ext cx="503834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F72BE"/>
                </a:solidFill>
                <a:latin typeface="Microsoft YaHei"/>
              </a:rPr>
              <a:t>③ 多就诊卡 + 结构化档案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07 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安全与测试：模型负责表达，规则负责底线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自动化 + 场景演示 + 缺陷回归三层覆盖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0195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795528" y="2148840"/>
            <a:ext cx="585216" cy="640080"/>
          </a:xfrm>
          <a:prstGeom prst="homePlat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2039112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红旗门禁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432304"/>
            <a:ext cx="212140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胸痛、大出血、意识异常等
仅给急诊建议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0195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4562856" y="2148840"/>
            <a:ext cx="585216" cy="640080"/>
          </a:xfrm>
          <a:prstGeom prst="homePlate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2039112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药品白名单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432304"/>
            <a:ext cx="212140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模型草稿中的药品必须命中
库内条目才能展示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90195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entagon 15"/>
          <p:cNvSpPr/>
          <p:nvPr/>
        </p:nvSpPr>
        <p:spPr>
          <a:xfrm>
            <a:off x="8330184" y="2148840"/>
            <a:ext cx="585216" cy="640080"/>
          </a:xfrm>
          <a:prstGeom prst="homePlat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2039112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否定语处理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432304"/>
            <a:ext cx="212140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“胸口疼不存在了”可解除
避免反复错误拦截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84448"/>
            <a:ext cx="2286000" cy="12984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703320"/>
            <a:ext cx="65836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87C92"/>
                </a:solidFill>
                <a:latin typeface="Microsoft YaHe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712463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类自动化测试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5" y="4096512"/>
            <a:ext cx="1188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894A6"/>
                </a:solidFill>
                <a:latin typeface="Microsoft YaHei"/>
              </a:rPr>
              <a:t>领域规则 + Spring 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584448"/>
            <a:ext cx="2286000" cy="12984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3703320"/>
            <a:ext cx="65836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87C92"/>
                </a:solidFill>
                <a:latin typeface="Microsoft YaHe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3712463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个场景用例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096512"/>
            <a:ext cx="1188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894A6"/>
                </a:solidFill>
                <a:latin typeface="Microsoft YaHei"/>
              </a:rPr>
              <a:t>正常 / 安全 / 异常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584448"/>
            <a:ext cx="2286000" cy="12984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03320"/>
            <a:ext cx="65836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87C92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712463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个关键 Bug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4096512"/>
            <a:ext cx="1188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894A6"/>
                </a:solidFill>
                <a:latin typeface="Microsoft YaHei"/>
              </a:rPr>
              <a:t>均纳入回归设计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584448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79476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验收中真实修复</a:t>
            </a:r>
          </a:p>
        </p:txBody>
      </p:sp>
      <p:sp>
        <p:nvSpPr>
          <p:cNvPr id="33" name="Oval 32"/>
          <p:cNvSpPr/>
          <p:nvPr/>
        </p:nvSpPr>
        <p:spPr>
          <a:xfrm>
            <a:off x="8458200" y="4343400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9368" y="4233672"/>
            <a:ext cx="245059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过期会话号 → 自动重建</a:t>
            </a:r>
          </a:p>
        </p:txBody>
      </p:sp>
      <p:sp>
        <p:nvSpPr>
          <p:cNvPr id="35" name="Oval 34"/>
          <p:cNvSpPr/>
          <p:nvPr/>
        </p:nvSpPr>
        <p:spPr>
          <a:xfrm>
            <a:off x="8458200" y="472744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9368" y="4617720"/>
            <a:ext cx="245059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红旗否定失效 → 后置否定窗口</a:t>
            </a:r>
          </a:p>
        </p:txBody>
      </p:sp>
      <p:sp>
        <p:nvSpPr>
          <p:cNvPr id="37" name="Oval 36"/>
          <p:cNvSpPr/>
          <p:nvPr/>
        </p:nvSpPr>
        <p:spPr>
          <a:xfrm>
            <a:off x="8458200" y="511149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9368" y="5001768"/>
            <a:ext cx="245059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多卡唯一索引 → 启动时修复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257800"/>
            <a:ext cx="6858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D4554"/>
                </a:solidFill>
                <a:latin typeface="Microsoft YaHei"/>
              </a:rPr>
              <a:t>测试原则：变笨可以，变危险不行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08 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技术选型与小组分工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选型围绕可维护、可演示、可降级；成员姓名可直接在此页替换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514600" cy="384048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React · Vite · TypeScript
SSE 消费 · 响应式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79" y="1874519"/>
            <a:ext cx="2514600" cy="384048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Java 21 · Spring Boot 3.4
REST/SSE · 编排 · 门禁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74519"/>
            <a:ext cx="2514600" cy="384048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数据与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MySQL 8 · Chroma · Neo4j
DeepSeek / OpenAI 兼容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19" y="1874519"/>
            <a:ext cx="2514600" cy="384048"/>
          </a:xfrm>
          <a:prstGeom prst="roundRect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测试与文档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JUnit · Maven Surefire
场景用例 · Bug 回归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20440"/>
            <a:ext cx="1100023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694176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角色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694176"/>
            <a:ext cx="5852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负责内容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694176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成员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" y="4041648"/>
            <a:ext cx="10488168" cy="0"/>
          </a:xfrm>
          <a:prstGeom prst="line">
            <a:avLst/>
          </a:prstGeom>
          <a:ln w="1270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4169663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产品 / 文档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169663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范围、报告、PPT、演示剧本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169663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608575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后端 / 检索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608575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问诊编排、RAG、门禁、会话、就诊卡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608575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047488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前端 / 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047488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三页 UI、历史交互、多媒体、用例与回归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047488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09 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从“会聊天”到“可运行、可解释、可回归”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项目完成了完整软件工程闭环，也保留了清晰的后续改进方向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4663440" cy="3931920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AFBFA"/>
                </a:solidFill>
                <a:latin typeface="Microsoft YaHei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56616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一个可演示的
智能问诊软件系统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995928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886200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问诊 + RAG + 门禁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89120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279392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就诊卡 + 历史 + 知识库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672584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多媒体输入 + 优雅降级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175504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065776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测试用例 + Bug 回归 + 项目报告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1874519"/>
            <a:ext cx="6035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103120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当前不足</a:t>
            </a:r>
          </a:p>
        </p:txBody>
      </p:sp>
      <p:sp>
        <p:nvSpPr>
          <p:cNvPr id="20" name="Oval 19"/>
          <p:cNvSpPr/>
          <p:nvPr/>
        </p:nvSpPr>
        <p:spPr>
          <a:xfrm>
            <a:off x="5870448" y="2615184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2505456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知识覆盖仍以教学资料包为主</a:t>
            </a:r>
          </a:p>
        </p:txBody>
      </p:sp>
      <p:sp>
        <p:nvSpPr>
          <p:cNvPr id="22" name="Oval 21"/>
          <p:cNvSpPr/>
          <p:nvPr/>
        </p:nvSpPr>
        <p:spPr>
          <a:xfrm>
            <a:off x="5870448" y="291693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07208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前端 E2E 与高并发压测尚未补齐</a:t>
            </a:r>
          </a:p>
        </p:txBody>
      </p:sp>
      <p:sp>
        <p:nvSpPr>
          <p:cNvPr id="24" name="Oval 23"/>
          <p:cNvSpPr/>
          <p:nvPr/>
        </p:nvSpPr>
        <p:spPr>
          <a:xfrm>
            <a:off x="5870448" y="321868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1616" y="3108960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多用户权限未纳入课程演示范围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59552" y="3822191"/>
            <a:ext cx="603504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050791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下一步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498848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4498848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扩知识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4498848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更多病种与权威资料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70448" y="4892040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0448" y="4892040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补测试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892040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Playwright + 性能冒烟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0448" y="5285232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5285232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强解释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285232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检索证据与降级状态可视化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7C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292608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682496"/>
            <a:ext cx="4114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EAFBFA"/>
                </a:solidFill>
                <a:latin typeface="Microsoft YaHei"/>
              </a:rPr>
              <a:t>谢谢聆听，欢迎提问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4800600" cy="2029968"/>
          </a:xfrm>
          <a:prstGeom prst="roundRect">
            <a:avLst/>
          </a:prstGeom>
          <a:solidFill>
            <a:srgbClr val="0E8997"/>
          </a:solidFill>
          <a:ln w="12700">
            <a:solidFill>
              <a:srgbClr val="37B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15184"/>
            <a:ext cx="41605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BFF2EF"/>
                </a:solidFill>
                <a:latin typeface="Microsoft YaHei"/>
              </a:rPr>
              <a:t>如果被问“是不是套壳 ChatGPT？”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35808"/>
            <a:ext cx="416052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不是。
我们有 RAG 依据、Java 白名单与红旗门禁，
还有会话、就诊卡、知识库和回归测试。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33872" y="1170432"/>
            <a:ext cx="257860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53312"/>
            <a:ext cx="215798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为什么不用多 Agent？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83664"/>
            <a:ext cx="21579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问诊共享上下文；单 Agent + 工具更稳、更省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95944" y="1170432"/>
            <a:ext cx="257860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7112" y="1353312"/>
            <a:ext cx="215798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ES / 向量是三套系统？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1883664"/>
            <a:ext cx="21579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不是，它们只是 RAG 内部检索手段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33872" y="3090672"/>
            <a:ext cx="257860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273552"/>
            <a:ext cx="215798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药品怎么不乱开？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803904"/>
            <a:ext cx="21579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Java 白名单门禁，模型草稿不过检不展示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95944" y="3090672"/>
            <a:ext cx="257860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3273552"/>
            <a:ext cx="215798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能不能真看病？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803904"/>
            <a:ext cx="21579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不能。教学参考，不替代面诊与处方</a:t>
            </a:r>
          </a:p>
        </p:txBody>
      </p:sp>
      <p:sp>
        <p:nvSpPr>
          <p:cNvPr id="21" name="Oval 20"/>
          <p:cNvSpPr/>
          <p:nvPr/>
        </p:nvSpPr>
        <p:spPr>
          <a:xfrm>
            <a:off x="8183879" y="4572000"/>
            <a:ext cx="1874519" cy="1874519"/>
          </a:xfrm>
          <a:prstGeom prst="ellipse">
            <a:avLst/>
          </a:prstGeom>
          <a:solidFill>
            <a:srgbClr val="F3FDFC"/>
          </a:solidFill>
          <a:ln w="12700">
            <a:solidFill>
              <a:srgbClr val="B1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i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681728"/>
            <a:ext cx="1645920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06440" y="5888736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EAFBFA"/>
                </a:solidFill>
                <a:latin typeface="Microsoft YaHei"/>
              </a:rPr>
              <a:t>青禾门诊 · AI 让医疗更有温度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EAFBFA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青禾门诊智能问诊系统·课堂汇报</dc:title>
  <dc:subject>软件工程课程小组项目</dc:subject>
  <dc:creator>青禾门诊项目组</dc:creator>
  <cp:keywords>智能问诊,RAG,安全门禁,软件工程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