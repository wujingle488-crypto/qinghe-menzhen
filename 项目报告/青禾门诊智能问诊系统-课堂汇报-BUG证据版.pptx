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7C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6583680" cy="6583680"/>
          </a:xfrm>
          <a:prstGeom prst="ellipse">
            <a:avLst/>
          </a:prstGeom>
          <a:solidFill>
            <a:srgbClr val="139AA8"/>
          </a:solidFill>
          <a:ln w="12700">
            <a:solidFill>
              <a:srgbClr val="13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822960"/>
            <a:ext cx="5029200" cy="5029200"/>
          </a:xfrm>
          <a:prstGeom prst="ellipse">
            <a:avLst/>
          </a:prstGeom>
          <a:solidFill>
            <a:srgbClr val="1EB1AE"/>
          </a:solidFill>
          <a:ln w="12700">
            <a:solidFill>
              <a:srgbClr val="1EB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19989F"/>
          </a:solidFill>
          <a:ln w="12700">
            <a:solidFill>
              <a:srgbClr val="199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rt 4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青禾门诊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15568"/>
            <a:ext cx="2011680" cy="329184"/>
          </a:xfrm>
          <a:prstGeom prst="roundRect">
            <a:avLst/>
          </a:prstGeom>
          <a:solidFill>
            <a:srgbClr val="1B9CA4"/>
          </a:solidFill>
          <a:ln w="12700">
            <a:solidFill>
              <a:srgbClr val="1B9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15568"/>
            <a:ext cx="20116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软件工程课程 · 小组项目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64208"/>
            <a:ext cx="60350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青禾门诊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67712"/>
            <a:ext cx="60350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智能问诊系统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127248"/>
            <a:ext cx="585216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EAFBFA"/>
                </a:solidFill>
                <a:latin typeface="Microsoft YaHei"/>
              </a:rPr>
              <a:t>单 Agent · RAG 知识增强 · Java 安全门禁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675887"/>
            <a:ext cx="53949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CDF4F2"/>
                </a:solidFill>
                <a:latin typeface="Microsoft YaHei"/>
              </a:rPr>
              <a:t>教学演示，不替代面诊，不生成真实处方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709160"/>
            <a:ext cx="5029200" cy="1051560"/>
          </a:xfrm>
          <a:prstGeom prst="roundRect">
            <a:avLst/>
          </a:prstGeom>
          <a:solidFill>
            <a:srgbClr val="108797"/>
          </a:solidFill>
          <a:ln w="12700">
            <a:solidFill>
              <a:srgbClr val="32B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965192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小组：________________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965192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成员：________________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376672"/>
            <a:ext cx="4114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6F1EF"/>
                </a:solidFill>
                <a:latin typeface="Microsoft YaHei"/>
              </a:rPr>
              <a:t>2026 · 课堂汇报</a:t>
            </a:r>
          </a:p>
        </p:txBody>
      </p:sp>
      <p:sp>
        <p:nvSpPr>
          <p:cNvPr id="17" name="Oval 16"/>
          <p:cNvSpPr/>
          <p:nvPr/>
        </p:nvSpPr>
        <p:spPr>
          <a:xfrm>
            <a:off x="7342631" y="841248"/>
            <a:ext cx="4224528" cy="4224528"/>
          </a:xfrm>
          <a:prstGeom prst="ellipse">
            <a:avLst/>
          </a:prstGeom>
          <a:solidFill>
            <a:srgbClr val="F4FEFD"/>
          </a:solidFill>
          <a:ln w="12700">
            <a:solidFill>
              <a:srgbClr val="B0E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i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1078992"/>
            <a:ext cx="3657600" cy="3657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44968" y="5001768"/>
            <a:ext cx="347472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AI 让医疗更有温度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542239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BEEFEC"/>
                </a:solidFill>
                <a:latin typeface="Microsoft YaHei"/>
              </a:rPr>
              <a:t>QINGHE CLINIC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02 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为什么做青禾门诊？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从通用聊天走向“有知识、有门禁、可回归”的问诊系统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1920240"/>
            <a:ext cx="3657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76272"/>
            <a:ext cx="1005840" cy="329184"/>
          </a:xfrm>
          <a:prstGeom prst="roundRect">
            <a:avLst/>
          </a:prstGeom>
          <a:solidFill>
            <a:srgbClr val="FFF2F2"/>
          </a:solidFill>
          <a:ln w="12700">
            <a:solidFill>
              <a:srgbClr val="FF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10058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CD4554"/>
                </a:solidFill>
                <a:latin typeface="Microsoft YaHei"/>
              </a:rPr>
              <a:t>现实问题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3017520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63B5C"/>
                </a:solidFill>
                <a:latin typeface="Microsoft YaHei"/>
              </a:rPr>
              <a:t>通用聊天模型
能回答，但不一定安全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904488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794760"/>
            <a:ext cx="2816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5677D"/>
                </a:solidFill>
                <a:latin typeface="Microsoft YaHei"/>
              </a:rPr>
              <a:t>用户往往无法一次说清病情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379976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270248"/>
            <a:ext cx="2816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5677D"/>
                </a:solidFill>
                <a:latin typeface="Microsoft YaHei"/>
              </a:rPr>
              <a:t>回答可能缺少权威依据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855464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745736"/>
            <a:ext cx="2816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5677D"/>
                </a:solidFill>
                <a:latin typeface="Microsoft YaHei"/>
              </a:rPr>
              <a:t>危急症状不能继续“给方案”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5330952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5221224"/>
            <a:ext cx="2816351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5677D"/>
                </a:solidFill>
                <a:latin typeface="Microsoft YaHei"/>
              </a:rPr>
              <a:t>模型或检索宕机会打断演示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029968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87C92"/>
                </a:solidFill>
                <a:latin typeface="Microsoft YaHei"/>
              </a:rPr>
              <a:t>我们的回答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90288" y="2487168"/>
            <a:ext cx="31546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91455" y="2688336"/>
            <a:ext cx="402336" cy="402336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1455" y="2688336"/>
            <a:ext cx="402336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7" y="2651760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B5C"/>
                </a:solidFill>
                <a:latin typeface="Microsoft YaHei"/>
              </a:rPr>
              <a:t>多轮问诊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7" y="3017520"/>
            <a:ext cx="21031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677D"/>
                </a:solidFill>
                <a:latin typeface="Microsoft YaHei"/>
              </a:rPr>
              <a:t>主动追问时长、部位、发热等关键槽位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2487168"/>
            <a:ext cx="31546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2688336"/>
            <a:ext cx="402336" cy="402336"/>
          </a:xfrm>
          <a:prstGeom prst="ellipse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688336"/>
            <a:ext cx="402336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2651760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B5C"/>
                </a:solidFill>
                <a:latin typeface="Microsoft YaHei"/>
              </a:rPr>
              <a:t>知识增强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3017520"/>
            <a:ext cx="21031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677D"/>
                </a:solidFill>
                <a:latin typeface="Microsoft YaHei"/>
              </a:rPr>
              <a:t>RAG 取回资料后再组织回答，并显示出处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90288" y="4142232"/>
            <a:ext cx="31546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1455" y="4343400"/>
            <a:ext cx="402336" cy="402336"/>
          </a:xfrm>
          <a:prstGeom prst="ellipse">
            <a:avLst/>
          </a:prstGeom>
          <a:solidFill>
            <a:srgbClr val="CD4554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1455" y="4343400"/>
            <a:ext cx="402336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1807" y="4306824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B5C"/>
                </a:solidFill>
                <a:latin typeface="Microsoft YaHei"/>
              </a:rPr>
              <a:t>安全门禁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7" y="4672584"/>
            <a:ext cx="21031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677D"/>
                </a:solidFill>
                <a:latin typeface="Microsoft YaHei"/>
              </a:rPr>
              <a:t>红旗只导向急诊；药品必须经过白名单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65592" y="4142232"/>
            <a:ext cx="31546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66760" y="4343400"/>
            <a:ext cx="402336" cy="402336"/>
          </a:xfrm>
          <a:prstGeom prst="ellipse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4343400"/>
            <a:ext cx="402336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7112" y="4306824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63B5C"/>
                </a:solidFill>
                <a:latin typeface="Microsoft YaHei"/>
              </a:rPr>
              <a:t>完整系统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7112" y="4672584"/>
            <a:ext cx="21031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677D"/>
                </a:solidFill>
                <a:latin typeface="Microsoft YaHei"/>
              </a:rPr>
              <a:t>就诊卡、历史、知识库、语音与图片协同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03 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用户、用例与范围边界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先把“做什么”与“不做什么”说清楚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45643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112264"/>
            <a:ext cx="603504" cy="60350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12264"/>
            <a:ext cx="603504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1993392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演示患者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359152"/>
            <a:ext cx="21031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文字 / 语音 / 图片描述不适
查看建议与历史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874519"/>
            <a:ext cx="345643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5152" y="2112264"/>
            <a:ext cx="603504" cy="603504"/>
          </a:xfrm>
          <a:prstGeom prst="ellipse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112264"/>
            <a:ext cx="603504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1993392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医学编辑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2359152"/>
            <a:ext cx="21031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浏览、检索和补充知识库
维护教学资料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874519"/>
            <a:ext cx="345643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67344" y="2112264"/>
            <a:ext cx="603504" cy="603504"/>
          </a:xfrm>
          <a:prstGeom prst="ellipse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2112264"/>
            <a:ext cx="603504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1993392"/>
            <a:ext cx="2057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答辩评委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2359152"/>
            <a:ext cx="21031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观察主链路、安全行为
验证系统工作量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47288"/>
            <a:ext cx="11000232" cy="1170432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C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602736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核心用例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新建会话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99232" y="3840480"/>
            <a:ext cx="283464" cy="0"/>
          </a:xfrm>
          <a:prstGeom prst="line">
            <a:avLst/>
          </a:prstGeom>
          <a:ln w="19050">
            <a:solidFill>
              <a:srgbClr val="12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355848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3F72BE"/>
                </a:solidFill>
                <a:latin typeface="Microsoft YaHei"/>
              </a:rPr>
              <a:t>多轮描述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0" y="3840480"/>
            <a:ext cx="283464" cy="0"/>
          </a:xfrm>
          <a:prstGeom prst="line">
            <a:avLst/>
          </a:prstGeom>
          <a:ln w="19050">
            <a:solidFill>
              <a:srgbClr val="3F7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928616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28616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7763CD"/>
                </a:solidFill>
                <a:latin typeface="Microsoft YaHei"/>
              </a:rPr>
              <a:t>RAG 检索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44768" y="3840480"/>
            <a:ext cx="283463" cy="0"/>
          </a:xfrm>
          <a:prstGeom prst="line">
            <a:avLst/>
          </a:prstGeom>
          <a:ln w="19050">
            <a:solidFill>
              <a:srgbClr val="776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01384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4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CD4554"/>
                </a:solidFill>
                <a:latin typeface="Microsoft YaHei"/>
              </a:rPr>
              <a:t>安全门禁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17536" y="3840480"/>
            <a:ext cx="283464" cy="0"/>
          </a:xfrm>
          <a:prstGeom prst="line">
            <a:avLst/>
          </a:prstGeom>
          <a:ln w="19050">
            <a:solidFill>
              <a:srgbClr val="CD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74152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74152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2B997A"/>
                </a:solidFill>
                <a:latin typeface="Microsoft YaHei"/>
              </a:rPr>
              <a:t>建议卡片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290304" y="3840480"/>
            <a:ext cx="283464" cy="0"/>
          </a:xfrm>
          <a:prstGeom prst="line">
            <a:avLst/>
          </a:prstGeom>
          <a:ln w="19050">
            <a:solidFill>
              <a:srgbClr val="2B9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46919" y="3621024"/>
            <a:ext cx="12070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6919" y="3621024"/>
            <a:ext cx="12070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历史沉淀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892040"/>
            <a:ext cx="52578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084064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B997A"/>
                </a:solidFill>
                <a:latin typeface="Microsoft YaHei"/>
              </a:rPr>
              <a:t>✓  范围内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5422392"/>
            <a:ext cx="45720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5677D"/>
                </a:solidFill>
                <a:latin typeface="Microsoft YaHei"/>
              </a:rPr>
              <a:t>问诊 · RAG · 门禁 · 就诊卡 · 知识库 · 多媒体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4892040"/>
            <a:ext cx="5449824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91656" y="5084064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CD4554"/>
                </a:solidFill>
                <a:latin typeface="Microsoft YaHei"/>
              </a:rPr>
              <a:t>×  范围外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1656" y="5422392"/>
            <a:ext cx="45720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5677D"/>
                </a:solidFill>
                <a:latin typeface="Microsoft YaHei"/>
              </a:rPr>
              <a:t>真实诊疗 · 电子处方 · 医保结算 · 自由开药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04 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功能全景：围绕一次问诊形成完整闭环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不只是聊天窗口，而是输入、知识、安全、档案与沉淀协同的软件系统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92807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92807"/>
            <a:ext cx="521207" cy="1618488"/>
          </a:xfrm>
          <a:prstGeom prst="roundRect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多轮智能问诊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39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连续追问症状、时长、程度等关键信息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892807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47288" y="1892807"/>
            <a:ext cx="521207" cy="1618488"/>
          </a:xfrm>
          <a:prstGeom prst="roundRect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96596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10312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RAG 知识增强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606039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混合检索科普资料，回答附知识依据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92807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8" y="1892807"/>
            <a:ext cx="521207" cy="1618488"/>
          </a:xfrm>
          <a:prstGeom prst="roundRect">
            <a:avLst/>
          </a:prstGeom>
          <a:solidFill>
            <a:srgbClr val="CD4554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6596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10312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双重安全门禁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06039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红旗急诊出口 + 药品白名单校验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08007" y="1892807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08007" y="1892807"/>
            <a:ext cx="521207" cy="1618488"/>
          </a:xfrm>
          <a:prstGeom prst="roundRect">
            <a:avLst/>
          </a:prstGeom>
          <a:solidFill>
            <a:srgbClr val="E79248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39" y="196596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39" y="210312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结构化建议卡片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2606039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诊断参考、处理建议、用药与免责声明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858768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3858768"/>
            <a:ext cx="521207" cy="1618488"/>
          </a:xfrm>
          <a:prstGeom prst="roundRect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93192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06908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多就诊卡管理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572000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维护基础信息、既往史、过敏史并关联问诊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47288" y="3858768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47288" y="3858768"/>
            <a:ext cx="521207" cy="1618488"/>
          </a:xfrm>
          <a:prstGeom prst="roundRect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393192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406908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历史会话管理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572000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打开、重命名、单删与多选批量删除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7648" y="3858768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27648" y="3858768"/>
            <a:ext cx="521207" cy="1618488"/>
          </a:xfrm>
          <a:prstGeom prst="roundRect">
            <a:avLst/>
          </a:prstGeom>
          <a:solidFill>
            <a:srgbClr val="2B997A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93192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06908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知识库前台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572000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分类浏览、关键词检索与教学资料补录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08007" y="3858768"/>
            <a:ext cx="2578608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208007" y="3858768"/>
            <a:ext cx="521207" cy="1618488"/>
          </a:xfrm>
          <a:prstGeom prst="roundRect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39" y="3931920"/>
            <a:ext cx="457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39" y="4069080"/>
            <a:ext cx="16276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3B5C"/>
                </a:solidFill>
                <a:latin typeface="Microsoft YaHei"/>
              </a:rPr>
              <a:t>语音与图片输入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39" y="4572000"/>
            <a:ext cx="1627632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语音转写、体征图片观察，仍统一经过门禁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897880"/>
            <a:ext cx="1069848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87C92"/>
                </a:solidFill>
                <a:latin typeface="Microsoft YaHei"/>
              </a:rPr>
              <a:t>贯穿能力：SSE 流式反馈 · 过期会话自动重建 · 检索组件优雅降级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05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总体架构：前后端分离，安全能力落在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必开组件精简；检索与图谱可缺席降级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772667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1874519" cy="713232"/>
          </a:xfrm>
          <a:prstGeom prst="roundRect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74519"/>
            <a:ext cx="1618488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表现层 · React +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2066543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2066543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问诊页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066543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066543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就诊卡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4608" y="2066543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2066543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知识库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34456" y="2066543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34456" y="2066543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历史侧栏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4304" y="2066543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4304" y="2066543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SSE 卡片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88920"/>
            <a:ext cx="772667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2788920"/>
            <a:ext cx="1874519" cy="713232"/>
          </a:xfrm>
          <a:prstGeom prst="roundRect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2788920"/>
            <a:ext cx="1618488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应用层 · Spring Boot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24912" y="29809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4912" y="29809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REST / SSE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94760" y="29809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29809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ConsultOrchestrator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64608" y="29809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29809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Profile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34456" y="29809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34456" y="29809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Media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04304" y="29809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04304" y="29809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Knowledge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3703320"/>
            <a:ext cx="772667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" y="3703320"/>
            <a:ext cx="1874519" cy="713232"/>
          </a:xfrm>
          <a:prstGeom prst="roundRect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3703320"/>
            <a:ext cx="1618488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领域层 · domain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24912" y="38953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24912" y="38953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SafetyGate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94760" y="38953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4760" y="38953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白名单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64608" y="38953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64608" y="38953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红旗否定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34456" y="38953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34456" y="38953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会话记忆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04304" y="3895344"/>
            <a:ext cx="94183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04304" y="3895344"/>
            <a:ext cx="9418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就诊卡规则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68512" y="1874519"/>
            <a:ext cx="290779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42832" y="2084831"/>
            <a:ext cx="13716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外部能力</a:t>
            </a:r>
          </a:p>
        </p:txBody>
      </p:sp>
      <p:sp>
        <p:nvSpPr>
          <p:cNvPr id="48" name="Oval 47"/>
          <p:cNvSpPr/>
          <p:nvPr/>
        </p:nvSpPr>
        <p:spPr>
          <a:xfrm>
            <a:off x="8961120" y="2578608"/>
            <a:ext cx="310896" cy="310896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18320" y="2569464"/>
            <a:ext cx="640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63B5C"/>
                </a:solidFill>
                <a:latin typeface="Microsoft YaHei"/>
              </a:rPr>
              <a:t>LLM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2569464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677D"/>
                </a:solidFill>
                <a:latin typeface="Microsoft YaHei"/>
              </a:rPr>
              <a:t>追问与生成</a:t>
            </a:r>
          </a:p>
        </p:txBody>
      </p:sp>
      <p:sp>
        <p:nvSpPr>
          <p:cNvPr id="51" name="Oval 50"/>
          <p:cNvSpPr/>
          <p:nvPr/>
        </p:nvSpPr>
        <p:spPr>
          <a:xfrm>
            <a:off x="8961120" y="3154679"/>
            <a:ext cx="310896" cy="310896"/>
          </a:xfrm>
          <a:prstGeom prst="ellipse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3145536"/>
            <a:ext cx="640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63B5C"/>
                </a:solidFill>
                <a:latin typeface="Microsoft YaHei"/>
              </a:rPr>
              <a:t>RAG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3145536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677D"/>
                </a:solidFill>
                <a:latin typeface="Microsoft YaHei"/>
              </a:rPr>
              <a:t>向量 / 关键词 / 图谱</a:t>
            </a:r>
          </a:p>
        </p:txBody>
      </p:sp>
      <p:sp>
        <p:nvSpPr>
          <p:cNvPr id="54" name="Oval 53"/>
          <p:cNvSpPr/>
          <p:nvPr/>
        </p:nvSpPr>
        <p:spPr>
          <a:xfrm>
            <a:off x="8961120" y="3730752"/>
            <a:ext cx="310896" cy="310896"/>
          </a:xfrm>
          <a:prstGeom prst="ellipse">
            <a:avLst/>
          </a:prstGeom>
          <a:solidFill>
            <a:srgbClr val="E79248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20" y="3721608"/>
            <a:ext cx="640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63B5C"/>
                </a:solidFill>
                <a:latin typeface="Microsoft YaHei"/>
              </a:rPr>
              <a:t>多媒体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3721608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677D"/>
                </a:solidFill>
                <a:latin typeface="Microsoft YaHei"/>
              </a:rPr>
              <a:t>语音转写 / 图片观察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" y="4700016"/>
            <a:ext cx="10917936" cy="676656"/>
          </a:xfrm>
          <a:prstGeom prst="roundRect">
            <a:avLst/>
          </a:prstGeom>
          <a:solidFill>
            <a:srgbClr val="F0F9FC"/>
          </a:solidFill>
          <a:ln w="12700">
            <a:solidFill>
              <a:srgbClr val="B7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6112" y="4700016"/>
            <a:ext cx="1280160" cy="6766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3F72BE"/>
                </a:solidFill>
                <a:latin typeface="Microsoft YaHei"/>
              </a:rPr>
              <a:t>MySQL 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48840" y="4700016"/>
            <a:ext cx="5669280" cy="6766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45677D"/>
                </a:solidFill>
                <a:latin typeface="Microsoft YaHei"/>
              </a:rPr>
              <a:t>会话 · 消息 · 就诊卡 · 病/症/药/红旗 · 知识底账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12680" y="4873752"/>
            <a:ext cx="640080" cy="329184"/>
          </a:xfrm>
          <a:prstGeom prst="roundRect">
            <a:avLst/>
          </a:prstGeom>
          <a:solidFill>
            <a:srgbClr val="E7F7F0"/>
          </a:solidFill>
          <a:ln w="12700">
            <a:solidFill>
              <a:srgbClr val="E7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12680" y="4873752"/>
            <a:ext cx="6400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2B997A"/>
                </a:solidFill>
                <a:latin typeface="Microsoft YaHei"/>
              </a:rPr>
              <a:t>必开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" y="5623560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87C92"/>
                </a:solidFill>
                <a:latin typeface="Microsoft YaHei"/>
              </a:rPr>
              <a:t>开发部署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91640" y="5623560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5173  前端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80" y="5623560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8082  后端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60520" y="5623560"/>
            <a:ext cx="12801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3306  MySQL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23560" y="5623560"/>
            <a:ext cx="19202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894A6"/>
                </a:solidFill>
                <a:latin typeface="Microsoft YaHei"/>
              </a:rPr>
              <a:t>8000/8001  向量（可选）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18120" y="5623560"/>
            <a:ext cx="16459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894A6"/>
                </a:solidFill>
                <a:latin typeface="Microsoft YaHei"/>
              </a:rPr>
              <a:t>7687  图谱（可选）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06  CORE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主链路：LLM → RAG → 生成 → 门禁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串行而非三路并行；门禁是输出前不可绕过的最后一道质检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2487168"/>
            <a:ext cx="384048" cy="384048"/>
          </a:xfrm>
          <a:prstGeom prst="ellipse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用户输入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症状 / 时长 / 发热
+ 可选就诊卡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3310128"/>
            <a:ext cx="219456" cy="0"/>
          </a:xfrm>
          <a:prstGeom prst="line">
            <a:avLst/>
          </a:prstGeom>
          <a:ln w="25400">
            <a:solidFill>
              <a:srgbClr val="087C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41448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96896" y="2487168"/>
            <a:ext cx="384048" cy="384048"/>
          </a:xfrm>
          <a:prstGeom prst="ellipse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LLM 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决定追问或作答
保持同一会话上下文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87368" y="3310128"/>
            <a:ext cx="219456" cy="0"/>
          </a:xfrm>
          <a:prstGeom prst="line">
            <a:avLst/>
          </a:prstGeom>
          <a:ln w="25400">
            <a:solidFill>
              <a:srgbClr val="3F7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79976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35424" y="2487168"/>
            <a:ext cx="384048" cy="384048"/>
          </a:xfrm>
          <a:prstGeom prst="ellipse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RAG 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向量 + 关键词 + 图谱
融合相关资料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25896" y="3310128"/>
            <a:ext cx="219456" cy="0"/>
          </a:xfrm>
          <a:prstGeom prst="line">
            <a:avLst/>
          </a:prstGeom>
          <a:ln w="25400">
            <a:solidFill>
              <a:srgbClr val="776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18504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73952" y="2487168"/>
            <a:ext cx="384048" cy="384048"/>
          </a:xfrm>
          <a:prstGeom prst="ellipse">
            <a:avLst/>
          </a:prstGeom>
          <a:solidFill>
            <a:srgbClr val="E79248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LLM 草稿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诊断参考 / 处理建议
拟推荐药品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64424" y="3310128"/>
            <a:ext cx="219455" cy="0"/>
          </a:xfrm>
          <a:prstGeom prst="line">
            <a:avLst/>
          </a:prstGeom>
          <a:ln w="25400">
            <a:solidFill>
              <a:srgbClr val="E79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257032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0" y="2487168"/>
            <a:ext cx="384048" cy="384048"/>
          </a:xfrm>
          <a:prstGeom prst="ellipse">
            <a:avLst/>
          </a:prstGeom>
          <a:solidFill>
            <a:srgbClr val="CD4554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1624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Java 门禁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红旗？白名单？
表述是否安全？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902952" y="3310128"/>
            <a:ext cx="219456" cy="0"/>
          </a:xfrm>
          <a:prstGeom prst="line">
            <a:avLst/>
          </a:prstGeom>
          <a:ln w="25400">
            <a:solidFill>
              <a:srgbClr val="CD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195560" y="2331720"/>
            <a:ext cx="1627632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51008" y="2487168"/>
            <a:ext cx="384048" cy="384048"/>
          </a:xfrm>
          <a:prstGeom prst="ellipse">
            <a:avLst/>
          </a:prstGeom>
          <a:solidFill>
            <a:srgbClr val="2B997A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51008" y="248716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0152" y="2971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结构化卡片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0152" y="3456432"/>
            <a:ext cx="1298448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45677D"/>
                </a:solidFill>
                <a:latin typeface="Microsoft YaHei"/>
              </a:rPr>
              <a:t>通过则返回
不通过改写就医建议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89136" y="4315968"/>
            <a:ext cx="0" cy="420624"/>
          </a:xfrm>
          <a:prstGeom prst="line">
            <a:avLst/>
          </a:prstGeom>
          <a:ln w="22860">
            <a:solidFill>
              <a:srgbClr val="CD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931152" y="4754880"/>
            <a:ext cx="4343400" cy="713232"/>
          </a:xfrm>
          <a:prstGeom prst="roundRect">
            <a:avLst/>
          </a:prstGeom>
          <a:solidFill>
            <a:srgbClr val="FFF4F5"/>
          </a:solidFill>
          <a:ln w="12700">
            <a:solidFill>
              <a:srgbClr val="F4C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50608" y="4754880"/>
            <a:ext cx="388620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CD4554"/>
                </a:solidFill>
                <a:latin typeface="Microsoft YaHei"/>
              </a:rPr>
              <a:t>红旗命中：不诊断、不开药，只导向急诊 / 120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974336"/>
            <a:ext cx="5989320" cy="841248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BF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" y="5138928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87C92"/>
                </a:solidFill>
                <a:latin typeface="Microsoft YaHei"/>
              </a:rPr>
              <a:t>优雅降级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074920"/>
            <a:ext cx="443484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向量/图谱可缺席 → 关键词/MySQL 兜底；系统变笨，但不能变危险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07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功能演示：从问诊到档案与知识沉淀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建议现场依次演示普通问诊 → 红旗 → 否定纠错 → 就诊卡 → 知识库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01952"/>
            <a:ext cx="5623560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问诊界面.png"/>
          <p:cNvPicPr>
            <a:picLocks noChangeAspect="1"/>
          </p:cNvPicPr>
          <p:nvPr/>
        </p:nvPicPr>
        <p:blipFill>
          <a:blip r:embed="rId2"/>
          <a:srcRect l="6427" r="6427"/>
          <a:stretch>
            <a:fillRect/>
          </a:stretch>
        </p:blipFill>
        <p:spPr>
          <a:xfrm>
            <a:off x="576072" y="1975104"/>
            <a:ext cx="5477256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" y="5715000"/>
            <a:ext cx="5330952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5715000"/>
            <a:ext cx="533095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① 问诊主界面 + 历史侧栏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901952"/>
            <a:ext cx="533095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__Users_____AppData_Roaming_Cursor_User_workspaceStorage_eb80d56d9d0cf8300e47dabaf73dfb88_images_image-6c300e95-9abc-4092-9f18-04d83476bcee.png"/>
          <p:cNvPicPr>
            <a:picLocks noChangeAspect="1"/>
          </p:cNvPicPr>
          <p:nvPr/>
        </p:nvPicPr>
        <p:blipFill>
          <a:blip r:embed="rId3"/>
          <a:srcRect t="20231" b="20231"/>
          <a:stretch>
            <a:fillRect/>
          </a:stretch>
        </p:blipFill>
        <p:spPr>
          <a:xfrm>
            <a:off x="6400800" y="1975104"/>
            <a:ext cx="5184648" cy="8229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73952" y="2880360"/>
            <a:ext cx="5038344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880360"/>
            <a:ext cx="503834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CD4554"/>
                </a:solidFill>
                <a:latin typeface="Microsoft YaHei"/>
              </a:rPr>
              <a:t>② 红旗只导向急诊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3502152"/>
            <a:ext cx="2551176" cy="2624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就诊卡界面.jpg"/>
          <p:cNvPicPr>
            <a:picLocks noChangeAspect="1"/>
          </p:cNvPicPr>
          <p:nvPr/>
        </p:nvPicPr>
        <p:blipFill>
          <a:blip r:embed="rId4"/>
          <a:srcRect l="10219" r="10219"/>
          <a:stretch>
            <a:fillRect/>
          </a:stretch>
        </p:blipFill>
        <p:spPr>
          <a:xfrm>
            <a:off x="6400800" y="3575304"/>
            <a:ext cx="2404872" cy="2057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473952" y="5715000"/>
            <a:ext cx="2258568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5715000"/>
            <a:ext cx="225856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3F72BE"/>
                </a:solidFill>
                <a:latin typeface="Microsoft YaHei"/>
              </a:rPr>
              <a:t>③ 多就诊卡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3502152"/>
            <a:ext cx="2551176" cy="2624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知识库界面.jpg"/>
          <p:cNvPicPr>
            <a:picLocks noChangeAspect="1"/>
          </p:cNvPicPr>
          <p:nvPr/>
        </p:nvPicPr>
        <p:blipFill>
          <a:blip r:embed="rId5"/>
          <a:srcRect t="20262" b="20262"/>
          <a:stretch>
            <a:fillRect/>
          </a:stretch>
        </p:blipFill>
        <p:spPr>
          <a:xfrm>
            <a:off x="9180576" y="3575304"/>
            <a:ext cx="2404872" cy="2057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253728" y="5715000"/>
            <a:ext cx="2258568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5715000"/>
            <a:ext cx="225856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2B997A"/>
                </a:solidFill>
                <a:latin typeface="Microsoft YaHei"/>
              </a:rPr>
              <a:t>④ 知识库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08  BUG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Bug 1｜正在读文章时，搜索框不生效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正常打开一篇科普后，左侧搜索框仍然能输入，但结果不会替换当前文章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74519"/>
            <a:ext cx="6903720" cy="4233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ug-01-阅读文章时搜索不生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" y="1965960"/>
            <a:ext cx="5939942" cy="37124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" y="5742432"/>
            <a:ext cx="6355080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5742432"/>
            <a:ext cx="63550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E79248"/>
                </a:solidFill>
                <a:latin typeface="Microsoft YaHei"/>
              </a:rPr>
              <a:t>同一条件重复 3 次 · 复现率 3/3 · 中等 · 页面状态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9248" y="1874519"/>
            <a:ext cx="3913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0" y="2020824"/>
            <a:ext cx="932688" cy="329184"/>
          </a:xfrm>
          <a:prstGeom prst="roundRect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20824"/>
            <a:ext cx="93268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激活条件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1993391"/>
            <a:ext cx="2359152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打开《腹泻先补液》，在左侧搜索框输入“流感”。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27832"/>
            <a:ext cx="3913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0" y="3374136"/>
            <a:ext cx="932688" cy="329184"/>
          </a:xfrm>
          <a:prstGeom prst="roundRect">
            <a:avLst/>
          </a:prstGeom>
          <a:solidFill>
            <a:srgbClr val="2B997A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374136"/>
            <a:ext cx="93268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预期结果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3346703"/>
            <a:ext cx="2359152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退出当前文章，展示流感相关知识条目。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9248" y="4581144"/>
            <a:ext cx="3913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0" y="4727448"/>
            <a:ext cx="932688" cy="329184"/>
          </a:xfrm>
          <a:prstGeom prst="roundRect">
            <a:avLst/>
          </a:prstGeom>
          <a:solidFill>
            <a:srgbClr val="E79248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727448"/>
            <a:ext cx="93268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实际结果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4700016"/>
            <a:ext cx="2359152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搜索框已显示“流感”，页面却仍停留在腹泻文章。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Bug 激活条件与复现证据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09  BUG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Bug 2｜感冒科普被分进用药指南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分类程序先匹配“抗生素”等词，文章还没按疾病主题归类就被改了类别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74519"/>
            <a:ext cx="6903720" cy="4233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ug-02-感冒文章被分到用药指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" y="1965960"/>
            <a:ext cx="5939942" cy="37124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" y="5742432"/>
            <a:ext cx="6355080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5742432"/>
            <a:ext cx="63550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E79248"/>
                </a:solidFill>
                <a:latin typeface="Microsoft YaHei"/>
              </a:rPr>
              <a:t>同一条件重复 3 次 · 复现率 3/3 · 中等 · 分类逻辑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9248" y="1874519"/>
            <a:ext cx="3913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0" y="2020824"/>
            <a:ext cx="932688" cy="329184"/>
          </a:xfrm>
          <a:prstGeom prst="roundRect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20824"/>
            <a:ext cx="93268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激活条件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1993391"/>
            <a:ext cx="2359152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进入知识库，直接点击左侧“用药指南”。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27832"/>
            <a:ext cx="3913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0" y="3374136"/>
            <a:ext cx="932688" cy="329184"/>
          </a:xfrm>
          <a:prstGeom prst="roundRect">
            <a:avLst/>
          </a:prstGeom>
          <a:solidFill>
            <a:srgbClr val="2B997A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374136"/>
            <a:ext cx="93268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预期结果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3346703"/>
            <a:ext cx="2359152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《普通感冒和流感不要混为一谈》应出现在“常见疾病”。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9248" y="4581144"/>
            <a:ext cx="3913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0" y="4727448"/>
            <a:ext cx="932688" cy="329184"/>
          </a:xfrm>
          <a:prstGeom prst="roundRect">
            <a:avLst/>
          </a:prstGeom>
          <a:solidFill>
            <a:srgbClr val="E79248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727448"/>
            <a:ext cx="93268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实际结果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4700016"/>
            <a:ext cx="2359152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它出现在“用药指南”中；“常见疾病”里反而找不到。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Bug 激活条件与复现证据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10  BUG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Bug 3｜新会话首条消息未应用已关联就诊卡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界面显示“已关联”，但创建会话后没有把所选 profileId 同步到后端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74519"/>
            <a:ext cx="6903720" cy="4233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ug-03-新会话首条消息未应用就诊卡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" y="1965960"/>
            <a:ext cx="5939942" cy="37124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" y="5742432"/>
            <a:ext cx="6355080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5742432"/>
            <a:ext cx="63550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CD4554"/>
                </a:solidFill>
                <a:latin typeface="Microsoft YaHei"/>
              </a:rPr>
              <a:t>同一条件重复 3 次 · 复现率 3/3 · 严重 · 状态同步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9248" y="1874519"/>
            <a:ext cx="3913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0" y="2020824"/>
            <a:ext cx="932688" cy="329184"/>
          </a:xfrm>
          <a:prstGeom prst="roundRect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20824"/>
            <a:ext cx="93268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激活条件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1993391"/>
            <a:ext cx="2359152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开启新对话 → 选择“李四女的就诊卡” → 首条发送“我叫什么名字？”。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27832"/>
            <a:ext cx="3913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0" y="3374136"/>
            <a:ext cx="932688" cy="329184"/>
          </a:xfrm>
          <a:prstGeom prst="roundRect">
            <a:avLst/>
          </a:prstGeom>
          <a:solidFill>
            <a:srgbClr val="2B997A"/>
          </a:solidFill>
          <a:ln w="12700">
            <a:solidFill>
              <a:srgbClr val="2B9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374136"/>
            <a:ext cx="93268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预期结果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3346703"/>
            <a:ext cx="2359152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新会话写入所选卡片，并根据就诊卡回答姓名。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9248" y="4581144"/>
            <a:ext cx="3913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0" y="4727448"/>
            <a:ext cx="932688" cy="329184"/>
          </a:xfrm>
          <a:prstGeom prst="roundRect">
            <a:avLst/>
          </a:prstGeom>
          <a:solidFill>
            <a:srgbClr val="CD4554"/>
          </a:solidFill>
          <a:ln w="12700">
            <a:solidFill>
              <a:srgbClr val="CD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727448"/>
            <a:ext cx="93268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实际结果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4700016"/>
            <a:ext cx="2359152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页面仍显示已关联，后端 profileLinked=false，回复追问哪里不舒服。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Bug 激活条件与复现证据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11 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技术选型与小组分工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选型围绕可维护、可演示、可降级；成员姓名可直接在此页替换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2514600" cy="384048"/>
          </a:xfrm>
          <a:prstGeom prst="roundRect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前端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21488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React · Vite · TypeScript
SSE 消费 · 响应式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79" y="1874519"/>
            <a:ext cx="2514600" cy="384048"/>
          </a:xfrm>
          <a:prstGeom prst="roundRect">
            <a:avLst/>
          </a:prstGeom>
          <a:solidFill>
            <a:srgbClr val="3F72BE"/>
          </a:solidFill>
          <a:ln w="12700">
            <a:solidFill>
              <a:srgbClr val="3F7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874519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50592"/>
            <a:ext cx="21488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Java 21 · Spring Boot 3.4
REST/SSE · 编排 · 门禁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874519"/>
            <a:ext cx="2514600" cy="384048"/>
          </a:xfrm>
          <a:prstGeom prst="roundRect">
            <a:avLst/>
          </a:prstGeom>
          <a:solidFill>
            <a:srgbClr val="7763CD"/>
          </a:solidFill>
          <a:ln w="12700">
            <a:solidFill>
              <a:srgbClr val="776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874519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数据与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50592"/>
            <a:ext cx="21488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MySQL 8 · Chroma · Neo4j
DeepSeek / OpenAI 兼容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19" y="1874519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19" y="1874519"/>
            <a:ext cx="2514600" cy="384048"/>
          </a:xfrm>
          <a:prstGeom prst="roundRect">
            <a:avLst/>
          </a:prstGeom>
          <a:solidFill>
            <a:srgbClr val="E79248"/>
          </a:solidFill>
          <a:ln w="12700">
            <a:solidFill>
              <a:srgbClr val="E79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874519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测试与文档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2450592"/>
            <a:ext cx="21488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JUnit · Maven Surefire
场景用例 · Bug 回归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520440"/>
            <a:ext cx="11000232" cy="2139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694176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894A6"/>
                </a:solidFill>
                <a:latin typeface="Microsoft YaHei"/>
              </a:rPr>
              <a:t>角色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694176"/>
            <a:ext cx="5852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894A6"/>
                </a:solidFill>
                <a:latin typeface="Microsoft YaHei"/>
              </a:rPr>
              <a:t>负责内容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694176"/>
            <a:ext cx="21031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894A6"/>
                </a:solidFill>
                <a:latin typeface="Microsoft YaHei"/>
              </a:rPr>
              <a:t>成员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4672" y="4041648"/>
            <a:ext cx="10488168" cy="0"/>
          </a:xfrm>
          <a:prstGeom prst="line">
            <a:avLst/>
          </a:prstGeom>
          <a:ln w="1270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4169663"/>
            <a:ext cx="107899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3B5C"/>
                </a:solidFill>
                <a:latin typeface="Microsoft YaHei"/>
              </a:rPr>
              <a:t>产品 / 文档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169663"/>
            <a:ext cx="61264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范围、报告、PPT、演示剧本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169663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7894A6"/>
                </a:solidFill>
                <a:latin typeface="Microsoft YaHei"/>
              </a:rPr>
              <a:t>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4608575"/>
            <a:ext cx="107899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3B5C"/>
                </a:solidFill>
                <a:latin typeface="Microsoft YaHei"/>
              </a:rPr>
              <a:t>后端 / 检索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4608575"/>
            <a:ext cx="61264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问诊编排、RAG、门禁、会话、就诊卡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608575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7894A6"/>
                </a:solidFill>
                <a:latin typeface="Microsoft YaHei"/>
              </a:rPr>
              <a:t>________________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047488"/>
            <a:ext cx="107899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3B5C"/>
                </a:solidFill>
                <a:latin typeface="Microsoft YaHei"/>
              </a:rPr>
              <a:t>前端 / 测试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047488"/>
            <a:ext cx="61264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三页 UI、历史交互、多媒体、用例与回归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047488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7894A6"/>
                </a:solidFill>
                <a:latin typeface="Microsoft YaHei"/>
              </a:rPr>
              <a:t>________________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12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87C92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713232"/>
            <a:ext cx="29260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2B8A6"/>
                </a:solidFill>
                <a:latin typeface="Microsoft YaHei"/>
              </a:rPr>
              <a:t>12 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63B5C"/>
                </a:solidFill>
                <a:latin typeface="Microsoft YaHei"/>
              </a:rPr>
              <a:t>从“会聊天”到“可运行、可解释、可回归”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90472"/>
            <a:ext cx="10607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894A6"/>
                </a:solidFill>
                <a:latin typeface="Microsoft YaHei"/>
              </a:rPr>
              <a:t>项目完成了完整软件工程闭环，也通过边界测试发现了可稳定复现的问题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4663440" cy="3931920"/>
          </a:xfrm>
          <a:prstGeom prst="roundRect">
            <a:avLst/>
          </a:prstGeom>
          <a:solidFill>
            <a:srgbClr val="087C92"/>
          </a:solidFill>
          <a:ln w="12700">
            <a:solidFill>
              <a:srgbClr val="087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AFBFA"/>
                </a:solidFill>
                <a:latin typeface="Microsoft YaHei"/>
              </a:rP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356616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一个可演示的
智能问诊软件系统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995928"/>
            <a:ext cx="100584" cy="100584"/>
          </a:xfrm>
          <a:prstGeom prst="ellipse">
            <a:avLst/>
          </a:prstGeom>
          <a:solidFill>
            <a:srgbClr val="B3EFEA"/>
          </a:solidFill>
          <a:ln w="12700">
            <a:solidFill>
              <a:srgbClr val="B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886200"/>
            <a:ext cx="34107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问诊 + RAG + 门禁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389120"/>
            <a:ext cx="100584" cy="100584"/>
          </a:xfrm>
          <a:prstGeom prst="ellipse">
            <a:avLst/>
          </a:prstGeom>
          <a:solidFill>
            <a:srgbClr val="B3EFEA"/>
          </a:solidFill>
          <a:ln w="12700">
            <a:solidFill>
              <a:srgbClr val="B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279392"/>
            <a:ext cx="34107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就诊卡 + 历史 + 知识库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782312"/>
            <a:ext cx="100584" cy="100584"/>
          </a:xfrm>
          <a:prstGeom prst="ellipse">
            <a:avLst/>
          </a:prstGeom>
          <a:solidFill>
            <a:srgbClr val="B3EFEA"/>
          </a:solidFill>
          <a:ln w="12700">
            <a:solidFill>
              <a:srgbClr val="B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672584"/>
            <a:ext cx="34107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多媒体输入 + 优雅降级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175504"/>
            <a:ext cx="100584" cy="100584"/>
          </a:xfrm>
          <a:prstGeom prst="ellipse">
            <a:avLst/>
          </a:prstGeom>
          <a:solidFill>
            <a:srgbClr val="B3EFEA"/>
          </a:solidFill>
          <a:ln w="12700">
            <a:solidFill>
              <a:srgbClr val="B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5065776"/>
            <a:ext cx="34107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测试用例 + Bug 回归 + 项目报告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9552" y="1874519"/>
            <a:ext cx="60350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103120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当前不足</a:t>
            </a:r>
          </a:p>
        </p:txBody>
      </p:sp>
      <p:sp>
        <p:nvSpPr>
          <p:cNvPr id="20" name="Oval 19"/>
          <p:cNvSpPr/>
          <p:nvPr/>
        </p:nvSpPr>
        <p:spPr>
          <a:xfrm>
            <a:off x="5870448" y="2615184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1616" y="2505456"/>
            <a:ext cx="49651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D4554"/>
                </a:solidFill>
                <a:latin typeface="Microsoft YaHei"/>
              </a:rPr>
              <a:t>知识覆盖仍以教学资料包为主</a:t>
            </a:r>
          </a:p>
        </p:txBody>
      </p:sp>
      <p:sp>
        <p:nvSpPr>
          <p:cNvPr id="22" name="Oval 21"/>
          <p:cNvSpPr/>
          <p:nvPr/>
        </p:nvSpPr>
        <p:spPr>
          <a:xfrm>
            <a:off x="5870448" y="2916936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807208"/>
            <a:ext cx="49651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D4554"/>
                </a:solidFill>
                <a:latin typeface="Microsoft YaHei"/>
              </a:rPr>
              <a:t>前端 E2E 与高并发压测尚未补齐</a:t>
            </a:r>
          </a:p>
        </p:txBody>
      </p:sp>
      <p:sp>
        <p:nvSpPr>
          <p:cNvPr id="24" name="Oval 23"/>
          <p:cNvSpPr/>
          <p:nvPr/>
        </p:nvSpPr>
        <p:spPr>
          <a:xfrm>
            <a:off x="5870448" y="3218688"/>
            <a:ext cx="100584" cy="100584"/>
          </a:xfrm>
          <a:prstGeom prst="ellipse">
            <a:avLst/>
          </a:prstGeom>
          <a:solidFill>
            <a:srgbClr val="12B8A6"/>
          </a:solidFill>
          <a:ln w="12700">
            <a:solidFill>
              <a:srgbClr val="1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71616" y="3108960"/>
            <a:ext cx="49651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D4554"/>
                </a:solidFill>
                <a:latin typeface="Microsoft YaHei"/>
              </a:rPr>
              <a:t>多用户权限未纳入课程演示范围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59552" y="3822191"/>
            <a:ext cx="6035040" cy="1984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050791"/>
            <a:ext cx="12801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63B5C"/>
                </a:solidFill>
                <a:latin typeface="Microsoft YaHei"/>
              </a:rPr>
              <a:t>下一步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70448" y="4498848"/>
            <a:ext cx="777240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0448" y="4498848"/>
            <a:ext cx="7772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扩知识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4498848"/>
            <a:ext cx="39319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更多病种与权威资料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70448" y="4892040"/>
            <a:ext cx="777240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70448" y="4892040"/>
            <a:ext cx="7772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补测试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4892040"/>
            <a:ext cx="39319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Playwright + 性能冒烟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70448" y="5285232"/>
            <a:ext cx="777240" cy="329184"/>
          </a:xfrm>
          <a:prstGeom prst="roundRect">
            <a:avLst/>
          </a:prstGeom>
          <a:solidFill>
            <a:srgbClr val="EAFBFA"/>
          </a:solidFill>
          <a:ln w="12700">
            <a:solidFill>
              <a:srgbClr val="EA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0448" y="5285232"/>
            <a:ext cx="7772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87C92"/>
                </a:solidFill>
                <a:latin typeface="Microsoft YaHei"/>
              </a:rPr>
              <a:t>强解释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5285232"/>
            <a:ext cx="39319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5677D"/>
                </a:solidFill>
                <a:latin typeface="Microsoft YaHei"/>
              </a:rPr>
              <a:t>检索证据与降级状态可视化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6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547104"/>
            <a:ext cx="49377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894A6"/>
                </a:solidFill>
                <a:latin typeface="Microsoft YaHei"/>
              </a:rPr>
              <a:t>青禾门诊 · 智能问诊 · 教学参考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28816"/>
            <a:ext cx="4389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087C92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7C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rt 1"/>
          <p:cNvSpPr/>
          <p:nvPr/>
        </p:nvSpPr>
        <p:spPr>
          <a:xfrm>
            <a:off x="347472" y="210312"/>
            <a:ext cx="292608" cy="292608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64592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青禾门诊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475488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139696"/>
            <a:ext cx="43891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EAFBFA"/>
                </a:solidFill>
                <a:latin typeface="Microsoft YaHei"/>
              </a:rPr>
              <a:t>青禾门诊 · 智能问诊系统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2788920"/>
            <a:ext cx="4361688" cy="0"/>
          </a:xfrm>
          <a:prstGeom prst="line">
            <a:avLst/>
          </a:prstGeom>
          <a:ln w="15240">
            <a:solidFill>
              <a:srgbClr val="5CC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3035808"/>
            <a:ext cx="41148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AI 让医疗更有温度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511296"/>
            <a:ext cx="475488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C6F0EE"/>
                </a:solidFill>
                <a:latin typeface="Microsoft YaHei"/>
              </a:rPr>
              <a:t>教学演示 · 不替代面诊 · 不生成真实处方</a:t>
            </a:r>
          </a:p>
        </p:txBody>
      </p:sp>
      <p:sp>
        <p:nvSpPr>
          <p:cNvPr id="9" name="Oval 8"/>
          <p:cNvSpPr/>
          <p:nvPr/>
        </p:nvSpPr>
        <p:spPr>
          <a:xfrm>
            <a:off x="6812280" y="731520"/>
            <a:ext cx="4480560" cy="4480560"/>
          </a:xfrm>
          <a:prstGeom prst="ellipse">
            <a:avLst/>
          </a:prstGeom>
          <a:solidFill>
            <a:srgbClr val="F3FDFC"/>
          </a:solidFill>
          <a:ln w="12700">
            <a:solidFill>
              <a:srgbClr val="B1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078992"/>
            <a:ext cx="3749039" cy="37490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086600" y="5010912"/>
            <a:ext cx="3886200" cy="640080"/>
          </a:xfrm>
          <a:prstGeom prst="roundRect">
            <a:avLst/>
          </a:prstGeom>
          <a:solidFill>
            <a:srgbClr val="0E8997"/>
          </a:solidFill>
          <a:ln w="12700">
            <a:solidFill>
              <a:srgbClr val="37B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5010912"/>
            <a:ext cx="388620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欢迎现场交流与提问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3968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EAFBFA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青禾门诊智能问诊系统·课堂汇报</dc:title>
  <dc:subject>软件工程课程小组项目</dc:subject>
  <dc:creator>青禾门诊项目组</dc:creator>
  <cp:keywords>智能问诊,RAG,安全门禁,软件工程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