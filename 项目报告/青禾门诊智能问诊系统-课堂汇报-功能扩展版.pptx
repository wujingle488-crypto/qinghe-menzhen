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jpg"/><Relationship Id="rId4" Type="http://schemas.openxmlformats.org/officeDocument/2006/relationships/image" Target="../media/image4.jpg"/><Relationship Id="rId5" Type="http://schemas.openxmlformats.org/officeDocument/2006/relationships/image" Target="../media/image5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7C9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7315200" y="-1828800"/>
            <a:ext cx="6583680" cy="6583680"/>
          </a:xfrm>
          <a:prstGeom prst="ellipse">
            <a:avLst/>
          </a:prstGeom>
          <a:solidFill>
            <a:srgbClr val="139AA8"/>
          </a:solidFill>
          <a:ln w="12700">
            <a:solidFill>
              <a:srgbClr val="139A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503920" y="-822960"/>
            <a:ext cx="5029200" cy="5029200"/>
          </a:xfrm>
          <a:prstGeom prst="ellipse">
            <a:avLst/>
          </a:prstGeom>
          <a:solidFill>
            <a:srgbClr val="1EB1AE"/>
          </a:solidFill>
          <a:ln w="12700">
            <a:solidFill>
              <a:srgbClr val="1EB1A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097280" y="5303520"/>
            <a:ext cx="2926080" cy="2926080"/>
          </a:xfrm>
          <a:prstGeom prst="ellipse">
            <a:avLst/>
          </a:prstGeom>
          <a:solidFill>
            <a:srgbClr val="19989F"/>
          </a:solidFill>
          <a:ln w="12700">
            <a:solidFill>
              <a:srgbClr val="19989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Heart 4"/>
          <p:cNvSpPr/>
          <p:nvPr/>
        </p:nvSpPr>
        <p:spPr>
          <a:xfrm>
            <a:off x="347472" y="210312"/>
            <a:ext cx="292608" cy="292608"/>
          </a:xfrm>
          <a:prstGeom prst="hear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164592"/>
            <a:ext cx="1645920" cy="30175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300" b="1">
                <a:solidFill>
                  <a:srgbClr val="FFFFFF"/>
                </a:solidFill>
                <a:latin typeface="Microsoft YaHei"/>
              </a:rPr>
              <a:t>青禾门诊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1115568"/>
            <a:ext cx="2011680" cy="329184"/>
          </a:xfrm>
          <a:prstGeom prst="roundRect">
            <a:avLst/>
          </a:prstGeom>
          <a:solidFill>
            <a:srgbClr val="1B9CA4"/>
          </a:solidFill>
          <a:ln w="12700">
            <a:solidFill>
              <a:srgbClr val="1B9C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8368" y="1115568"/>
            <a:ext cx="2011680" cy="329184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lnSpc>
                <a:spcPct val="105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</a:rPr>
              <a:t>软件工程课程 · 小组项目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67512" y="1664208"/>
            <a:ext cx="6035040" cy="6583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3800" b="1">
                <a:solidFill>
                  <a:srgbClr val="FFFFFF"/>
                </a:solidFill>
                <a:latin typeface="Microsoft YaHei"/>
              </a:rPr>
              <a:t>青禾门诊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67512" y="2267712"/>
            <a:ext cx="6035040" cy="6583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3800" b="1">
                <a:solidFill>
                  <a:srgbClr val="FFFFFF"/>
                </a:solidFill>
                <a:latin typeface="Microsoft YaHei"/>
              </a:rPr>
              <a:t>智能问诊系统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13232" y="3127248"/>
            <a:ext cx="5852160" cy="384048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700" b="0">
                <a:solidFill>
                  <a:srgbClr val="EAFBFA"/>
                </a:solidFill>
                <a:latin typeface="Microsoft YaHei"/>
              </a:rPr>
              <a:t>单 Agent · RAG 知识增强 · Java 安全门禁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13232" y="3675887"/>
            <a:ext cx="5394960" cy="32004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200" b="0">
                <a:solidFill>
                  <a:srgbClr val="CDF4F2"/>
                </a:solidFill>
                <a:latin typeface="Microsoft YaHei"/>
              </a:rPr>
              <a:t>教学演示，不替代面诊，不生成真实处方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85800" y="4709160"/>
            <a:ext cx="5029200" cy="1051560"/>
          </a:xfrm>
          <a:prstGeom prst="roundRect">
            <a:avLst/>
          </a:prstGeom>
          <a:solidFill>
            <a:srgbClr val="108797"/>
          </a:solidFill>
          <a:ln w="12700">
            <a:solidFill>
              <a:srgbClr val="32B1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32688" y="4965192"/>
            <a:ext cx="2194560" cy="292608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200" b="0">
                <a:solidFill>
                  <a:srgbClr val="FFFFFF"/>
                </a:solidFill>
                <a:latin typeface="Microsoft YaHei"/>
              </a:rPr>
              <a:t>小组：________________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154680" y="4965192"/>
            <a:ext cx="2194560" cy="292608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200" b="0">
                <a:solidFill>
                  <a:srgbClr val="FFFFFF"/>
                </a:solidFill>
                <a:latin typeface="Microsoft YaHei"/>
              </a:rPr>
              <a:t>成员：________________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32688" y="5376672"/>
            <a:ext cx="4114800" cy="22860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0">
                <a:solidFill>
                  <a:srgbClr val="C6F1EF"/>
                </a:solidFill>
                <a:latin typeface="Microsoft YaHei"/>
              </a:rPr>
              <a:t>2026 · 课堂汇报</a:t>
            </a:r>
          </a:p>
        </p:txBody>
      </p:sp>
      <p:sp>
        <p:nvSpPr>
          <p:cNvPr id="17" name="Oval 16"/>
          <p:cNvSpPr/>
          <p:nvPr/>
        </p:nvSpPr>
        <p:spPr>
          <a:xfrm>
            <a:off x="7342631" y="841248"/>
            <a:ext cx="4224528" cy="4224528"/>
          </a:xfrm>
          <a:prstGeom prst="ellipse">
            <a:avLst/>
          </a:prstGeom>
          <a:solidFill>
            <a:srgbClr val="F4FEFD"/>
          </a:solidFill>
          <a:ln w="12700">
            <a:solidFill>
              <a:srgbClr val="B0E7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8" name="Picture 17" descr="ai_robo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44383" y="1078992"/>
            <a:ext cx="3657600" cy="3657600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7744968" y="5001768"/>
            <a:ext cx="3474720" cy="34747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lnSpc>
                <a:spcPct val="105000"/>
              </a:lnSpc>
            </a:pPr>
            <a:r>
              <a:rPr sz="1600" b="1">
                <a:solidFill>
                  <a:srgbClr val="FFFFFF"/>
                </a:solidFill>
                <a:latin typeface="Microsoft YaHei"/>
              </a:rPr>
              <a:t>AI 让医疗更有温度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019288" y="5422392"/>
            <a:ext cx="2926080" cy="22860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lnSpc>
                <a:spcPct val="105000"/>
              </a:lnSpc>
            </a:pPr>
            <a:r>
              <a:rPr sz="900" b="1">
                <a:solidFill>
                  <a:srgbClr val="BEEFEC"/>
                </a:solidFill>
                <a:latin typeface="Microsoft YaHei"/>
              </a:rPr>
              <a:t>QINGHE CLINIC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C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Heart 1"/>
          <p:cNvSpPr/>
          <p:nvPr/>
        </p:nvSpPr>
        <p:spPr>
          <a:xfrm>
            <a:off x="347472" y="210312"/>
            <a:ext cx="292608" cy="292608"/>
          </a:xfrm>
          <a:prstGeom prst="heart">
            <a:avLst/>
          </a:prstGeom>
          <a:solidFill>
            <a:srgbClr val="12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164592"/>
            <a:ext cx="1645920" cy="30175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300" b="1">
                <a:solidFill>
                  <a:srgbClr val="087C92"/>
                </a:solidFill>
                <a:latin typeface="Microsoft YaHei"/>
              </a:rPr>
              <a:t>青禾门诊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76072" y="713232"/>
            <a:ext cx="2926080" cy="22860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1">
                <a:solidFill>
                  <a:srgbClr val="12B8A6"/>
                </a:solidFill>
                <a:latin typeface="Microsoft YaHei"/>
              </a:rPr>
              <a:t>02  WHY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941832"/>
            <a:ext cx="10698480" cy="56692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2700" b="1">
                <a:solidFill>
                  <a:srgbClr val="163B5C"/>
                </a:solidFill>
                <a:latin typeface="Microsoft YaHei"/>
              </a:rPr>
              <a:t>为什么做青禾门诊？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85216" y="1490472"/>
            <a:ext cx="10607040" cy="31089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0">
                <a:solidFill>
                  <a:srgbClr val="7894A6"/>
                </a:solidFill>
                <a:latin typeface="Microsoft YaHei"/>
              </a:rPr>
              <a:t>从通用聊天走向“有知识、有门禁、可回归”的问诊系统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76072" y="1920240"/>
            <a:ext cx="3657600" cy="4069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EF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822960" y="2176272"/>
            <a:ext cx="1005840" cy="329184"/>
          </a:xfrm>
          <a:prstGeom prst="roundRect">
            <a:avLst/>
          </a:prstGeom>
          <a:solidFill>
            <a:srgbClr val="FFF2F2"/>
          </a:solidFill>
          <a:ln w="12700">
            <a:solidFill>
              <a:srgbClr val="FFF2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2176272"/>
            <a:ext cx="1005840" cy="329184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lnSpc>
                <a:spcPct val="105000"/>
              </a:lnSpc>
            </a:pPr>
            <a:r>
              <a:rPr sz="1000" b="1">
                <a:solidFill>
                  <a:srgbClr val="CD4554"/>
                </a:solidFill>
                <a:latin typeface="Microsoft YaHei"/>
              </a:rPr>
              <a:t>现实问题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2670048"/>
            <a:ext cx="3017520" cy="85953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2300" b="1">
                <a:solidFill>
                  <a:srgbClr val="163B5C"/>
                </a:solidFill>
                <a:latin typeface="Microsoft YaHei"/>
              </a:rPr>
              <a:t>通用聊天模型
能回答，但不一定安全</a:t>
            </a:r>
          </a:p>
        </p:txBody>
      </p:sp>
      <p:sp>
        <p:nvSpPr>
          <p:cNvPr id="11" name="Oval 10"/>
          <p:cNvSpPr/>
          <p:nvPr/>
        </p:nvSpPr>
        <p:spPr>
          <a:xfrm>
            <a:off x="868680" y="3904488"/>
            <a:ext cx="100584" cy="100584"/>
          </a:xfrm>
          <a:prstGeom prst="ellipse">
            <a:avLst/>
          </a:prstGeom>
          <a:solidFill>
            <a:srgbClr val="12B8A6"/>
          </a:solidFill>
          <a:ln w="12700">
            <a:solidFill>
              <a:srgbClr val="12B8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69848" y="3794760"/>
            <a:ext cx="2816351" cy="34747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300" b="0">
                <a:solidFill>
                  <a:srgbClr val="45677D"/>
                </a:solidFill>
                <a:latin typeface="Microsoft YaHei"/>
              </a:rPr>
              <a:t>用户往往无法一次说清病情</a:t>
            </a:r>
          </a:p>
        </p:txBody>
      </p:sp>
      <p:sp>
        <p:nvSpPr>
          <p:cNvPr id="13" name="Oval 12"/>
          <p:cNvSpPr/>
          <p:nvPr/>
        </p:nvSpPr>
        <p:spPr>
          <a:xfrm>
            <a:off x="868680" y="4379976"/>
            <a:ext cx="100584" cy="100584"/>
          </a:xfrm>
          <a:prstGeom prst="ellipse">
            <a:avLst/>
          </a:prstGeom>
          <a:solidFill>
            <a:srgbClr val="12B8A6"/>
          </a:solidFill>
          <a:ln w="12700">
            <a:solidFill>
              <a:srgbClr val="12B8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69848" y="4270248"/>
            <a:ext cx="2816351" cy="34747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300" b="0">
                <a:solidFill>
                  <a:srgbClr val="45677D"/>
                </a:solidFill>
                <a:latin typeface="Microsoft YaHei"/>
              </a:rPr>
              <a:t>回答可能缺少权威依据</a:t>
            </a:r>
          </a:p>
        </p:txBody>
      </p:sp>
      <p:sp>
        <p:nvSpPr>
          <p:cNvPr id="15" name="Oval 14"/>
          <p:cNvSpPr/>
          <p:nvPr/>
        </p:nvSpPr>
        <p:spPr>
          <a:xfrm>
            <a:off x="868680" y="4855464"/>
            <a:ext cx="100584" cy="100584"/>
          </a:xfrm>
          <a:prstGeom prst="ellipse">
            <a:avLst/>
          </a:prstGeom>
          <a:solidFill>
            <a:srgbClr val="12B8A6"/>
          </a:solidFill>
          <a:ln w="12700">
            <a:solidFill>
              <a:srgbClr val="12B8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69848" y="4745736"/>
            <a:ext cx="2816351" cy="34747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300" b="0">
                <a:solidFill>
                  <a:srgbClr val="45677D"/>
                </a:solidFill>
                <a:latin typeface="Microsoft YaHei"/>
              </a:rPr>
              <a:t>危急症状不能继续“给方案”</a:t>
            </a:r>
          </a:p>
        </p:txBody>
      </p:sp>
      <p:sp>
        <p:nvSpPr>
          <p:cNvPr id="17" name="Oval 16"/>
          <p:cNvSpPr/>
          <p:nvPr/>
        </p:nvSpPr>
        <p:spPr>
          <a:xfrm>
            <a:off x="868680" y="5330952"/>
            <a:ext cx="100584" cy="100584"/>
          </a:xfrm>
          <a:prstGeom prst="ellipse">
            <a:avLst/>
          </a:prstGeom>
          <a:solidFill>
            <a:srgbClr val="12B8A6"/>
          </a:solidFill>
          <a:ln w="12700">
            <a:solidFill>
              <a:srgbClr val="12B8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69848" y="5221224"/>
            <a:ext cx="2816351" cy="34747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300" b="0">
                <a:solidFill>
                  <a:srgbClr val="45677D"/>
                </a:solidFill>
                <a:latin typeface="Microsoft YaHei"/>
              </a:rPr>
              <a:t>模型或检索宕机会打断演示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617720" y="2029968"/>
            <a:ext cx="2926080" cy="32004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700" b="1">
                <a:solidFill>
                  <a:srgbClr val="087C92"/>
                </a:solidFill>
                <a:latin typeface="Microsoft YaHei"/>
              </a:rPr>
              <a:t>我们的回答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590288" y="2487168"/>
            <a:ext cx="3154680" cy="135331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EF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4791455" y="2688336"/>
            <a:ext cx="402336" cy="402336"/>
          </a:xfrm>
          <a:prstGeom prst="ellipse">
            <a:avLst/>
          </a:prstGeom>
          <a:solidFill>
            <a:srgbClr val="12B8A6"/>
          </a:solidFill>
          <a:ln w="12700">
            <a:solidFill>
              <a:srgbClr val="12B8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791455" y="2688336"/>
            <a:ext cx="402336" cy="402336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lnSpc>
                <a:spcPct val="105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</a:rPr>
              <a:t>01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321807" y="2651760"/>
            <a:ext cx="2057400" cy="310896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600" b="1">
                <a:solidFill>
                  <a:srgbClr val="163B5C"/>
                </a:solidFill>
                <a:latin typeface="Microsoft YaHei"/>
              </a:rPr>
              <a:t>多轮问诊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321807" y="3017520"/>
            <a:ext cx="2103120" cy="56692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0">
                <a:solidFill>
                  <a:srgbClr val="45677D"/>
                </a:solidFill>
                <a:latin typeface="Microsoft YaHei"/>
              </a:rPr>
              <a:t>主动追问时长、部位、发热等关键槽位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165592" y="2487168"/>
            <a:ext cx="3154680" cy="135331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EF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8366760" y="2688336"/>
            <a:ext cx="402336" cy="402336"/>
          </a:xfrm>
          <a:prstGeom prst="ellipse">
            <a:avLst/>
          </a:prstGeom>
          <a:solidFill>
            <a:srgbClr val="3F72BE"/>
          </a:solidFill>
          <a:ln w="12700">
            <a:solidFill>
              <a:srgbClr val="3F72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366760" y="2688336"/>
            <a:ext cx="402336" cy="402336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lnSpc>
                <a:spcPct val="105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</a:rPr>
              <a:t>02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897112" y="2651760"/>
            <a:ext cx="2057400" cy="310896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600" b="1">
                <a:solidFill>
                  <a:srgbClr val="163B5C"/>
                </a:solidFill>
                <a:latin typeface="Microsoft YaHei"/>
              </a:rPr>
              <a:t>知识增强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897112" y="3017520"/>
            <a:ext cx="2103120" cy="56692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0">
                <a:solidFill>
                  <a:srgbClr val="45677D"/>
                </a:solidFill>
                <a:latin typeface="Microsoft YaHei"/>
              </a:rPr>
              <a:t>RAG 取回资料后再组织回答，并显示出处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590288" y="4142232"/>
            <a:ext cx="3154680" cy="135331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EF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4791455" y="4343400"/>
            <a:ext cx="402336" cy="402336"/>
          </a:xfrm>
          <a:prstGeom prst="ellipse">
            <a:avLst/>
          </a:prstGeom>
          <a:solidFill>
            <a:srgbClr val="CD4554"/>
          </a:solidFill>
          <a:ln w="12700">
            <a:solidFill>
              <a:srgbClr val="CD45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791455" y="4343400"/>
            <a:ext cx="402336" cy="402336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lnSpc>
                <a:spcPct val="105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</a:rPr>
              <a:t>03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321807" y="4306824"/>
            <a:ext cx="2057400" cy="310896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600" b="1">
                <a:solidFill>
                  <a:srgbClr val="163B5C"/>
                </a:solidFill>
                <a:latin typeface="Microsoft YaHei"/>
              </a:rPr>
              <a:t>安全门禁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321807" y="4672584"/>
            <a:ext cx="2103120" cy="56692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0">
                <a:solidFill>
                  <a:srgbClr val="45677D"/>
                </a:solidFill>
                <a:latin typeface="Microsoft YaHei"/>
              </a:rPr>
              <a:t>红旗只导向急诊；药品必须经过白名单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8165592" y="4142232"/>
            <a:ext cx="3154680" cy="135331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EF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8366760" y="4343400"/>
            <a:ext cx="402336" cy="402336"/>
          </a:xfrm>
          <a:prstGeom prst="ellipse">
            <a:avLst/>
          </a:prstGeom>
          <a:solidFill>
            <a:srgbClr val="7763CD"/>
          </a:solidFill>
          <a:ln w="12700">
            <a:solidFill>
              <a:srgbClr val="7763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366760" y="4343400"/>
            <a:ext cx="402336" cy="402336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lnSpc>
                <a:spcPct val="105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</a:rPr>
              <a:t>04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897112" y="4306824"/>
            <a:ext cx="2057400" cy="310896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600" b="1">
                <a:solidFill>
                  <a:srgbClr val="163B5C"/>
                </a:solidFill>
                <a:latin typeface="Microsoft YaHei"/>
              </a:rPr>
              <a:t>完整系统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897112" y="4672584"/>
            <a:ext cx="2103120" cy="56692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0">
                <a:solidFill>
                  <a:srgbClr val="45677D"/>
                </a:solidFill>
                <a:latin typeface="Microsoft YaHei"/>
              </a:rPr>
              <a:t>就诊卡、历史、知识库、语音与图片协同</a:t>
            </a:r>
          </a:p>
        </p:txBody>
      </p:sp>
      <p:cxnSp>
        <p:nvCxnSpPr>
          <p:cNvPr id="40" name="Connector 39"/>
          <p:cNvCxnSpPr/>
          <p:nvPr/>
        </p:nvCxnSpPr>
        <p:spPr>
          <a:xfrm>
            <a:off x="502920" y="6510528"/>
            <a:ext cx="11183112" cy="0"/>
          </a:xfrm>
          <a:prstGeom prst="line">
            <a:avLst/>
          </a:prstGeom>
          <a:ln w="10160">
            <a:solidFill>
              <a:srgbClr val="D6EF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TextBox 40"/>
          <p:cNvSpPr txBox="1"/>
          <p:nvPr/>
        </p:nvSpPr>
        <p:spPr>
          <a:xfrm>
            <a:off x="530352" y="6547104"/>
            <a:ext cx="4937760" cy="16459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800" b="0">
                <a:solidFill>
                  <a:srgbClr val="7894A6"/>
                </a:solidFill>
                <a:latin typeface="Microsoft YaHei"/>
              </a:rPr>
              <a:t>青禾门诊 · 智能问诊 · 教学参考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1201400" y="6528816"/>
            <a:ext cx="438912" cy="18288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r">
              <a:lnSpc>
                <a:spcPct val="105000"/>
              </a:lnSpc>
            </a:pPr>
            <a:r>
              <a:rPr sz="900" b="1">
                <a:solidFill>
                  <a:srgbClr val="087C92"/>
                </a:solidFill>
                <a:latin typeface="Microsoft YaHei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C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Heart 1"/>
          <p:cNvSpPr/>
          <p:nvPr/>
        </p:nvSpPr>
        <p:spPr>
          <a:xfrm>
            <a:off x="347472" y="210312"/>
            <a:ext cx="292608" cy="292608"/>
          </a:xfrm>
          <a:prstGeom prst="heart">
            <a:avLst/>
          </a:prstGeom>
          <a:solidFill>
            <a:srgbClr val="12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164592"/>
            <a:ext cx="1645920" cy="30175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300" b="1">
                <a:solidFill>
                  <a:srgbClr val="087C92"/>
                </a:solidFill>
                <a:latin typeface="Microsoft YaHei"/>
              </a:rPr>
              <a:t>青禾门诊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76072" y="713232"/>
            <a:ext cx="2926080" cy="22860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1">
                <a:solidFill>
                  <a:srgbClr val="12B8A6"/>
                </a:solidFill>
                <a:latin typeface="Microsoft YaHei"/>
              </a:rPr>
              <a:t>03  SCOPE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941832"/>
            <a:ext cx="10698480" cy="56692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2700" b="1">
                <a:solidFill>
                  <a:srgbClr val="163B5C"/>
                </a:solidFill>
                <a:latin typeface="Microsoft YaHei"/>
              </a:rPr>
              <a:t>用户、用例与范围边界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85216" y="1490472"/>
            <a:ext cx="10607040" cy="31089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0">
                <a:solidFill>
                  <a:srgbClr val="7894A6"/>
                </a:solidFill>
                <a:latin typeface="Microsoft YaHei"/>
              </a:rPr>
              <a:t>先把“做什么”与“不做什么”说清楚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4360" y="1874519"/>
            <a:ext cx="3456432" cy="12984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EF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822960" y="2112264"/>
            <a:ext cx="603504" cy="603504"/>
          </a:xfrm>
          <a:prstGeom prst="ellipse">
            <a:avLst/>
          </a:prstGeom>
          <a:solidFill>
            <a:srgbClr val="12B8A6"/>
          </a:solidFill>
          <a:ln w="12700">
            <a:solidFill>
              <a:srgbClr val="12B8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2112264"/>
            <a:ext cx="603504" cy="603504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lnSpc>
                <a:spcPct val="105000"/>
              </a:lnSpc>
            </a:pPr>
            <a:r>
              <a:rPr sz="1500" b="1">
                <a:solidFill>
                  <a:srgbClr val="FFFFFF"/>
                </a:solidFill>
                <a:latin typeface="Microsoft YaHei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81912" y="1993392"/>
            <a:ext cx="2057400" cy="310896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1">
                <a:solidFill>
                  <a:srgbClr val="163B5C"/>
                </a:solidFill>
                <a:latin typeface="Microsoft YaHei"/>
              </a:rPr>
              <a:t>演示患者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81912" y="2359152"/>
            <a:ext cx="2103120" cy="53035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>
                <a:solidFill>
                  <a:srgbClr val="45677D"/>
                </a:solidFill>
                <a:latin typeface="Microsoft YaHei"/>
              </a:rPr>
              <a:t>文字 / 语音 / 图片描述不适
查看建议与历史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416552" y="1874519"/>
            <a:ext cx="3456432" cy="12984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EF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4645152" y="2112264"/>
            <a:ext cx="603504" cy="603504"/>
          </a:xfrm>
          <a:prstGeom prst="ellipse">
            <a:avLst/>
          </a:prstGeom>
          <a:solidFill>
            <a:srgbClr val="3F72BE"/>
          </a:solidFill>
          <a:ln w="12700">
            <a:solidFill>
              <a:srgbClr val="3F72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645152" y="2112264"/>
            <a:ext cx="603504" cy="603504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lnSpc>
                <a:spcPct val="105000"/>
              </a:lnSpc>
            </a:pPr>
            <a:r>
              <a:rPr sz="1500" b="1">
                <a:solidFill>
                  <a:srgbClr val="FFFFFF"/>
                </a:solidFill>
                <a:latin typeface="Microsoft YaHei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04104" y="1993392"/>
            <a:ext cx="2057400" cy="310896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1">
                <a:solidFill>
                  <a:srgbClr val="163B5C"/>
                </a:solidFill>
                <a:latin typeface="Microsoft YaHei"/>
              </a:rPr>
              <a:t>医学编辑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04104" y="2359152"/>
            <a:ext cx="2103120" cy="53035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>
                <a:solidFill>
                  <a:srgbClr val="45677D"/>
                </a:solidFill>
                <a:latin typeface="Microsoft YaHei"/>
              </a:rPr>
              <a:t>浏览、检索和补充知识库
维护教学资料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238744" y="1874519"/>
            <a:ext cx="3456432" cy="12984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EF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8467344" y="2112264"/>
            <a:ext cx="603504" cy="603504"/>
          </a:xfrm>
          <a:prstGeom prst="ellipse">
            <a:avLst/>
          </a:prstGeom>
          <a:solidFill>
            <a:srgbClr val="7763CD"/>
          </a:solidFill>
          <a:ln w="12700">
            <a:solidFill>
              <a:srgbClr val="7763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467344" y="2112264"/>
            <a:ext cx="603504" cy="603504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lnSpc>
                <a:spcPct val="105000"/>
              </a:lnSpc>
            </a:pPr>
            <a:r>
              <a:rPr sz="1500" b="1">
                <a:solidFill>
                  <a:srgbClr val="FFFFFF"/>
                </a:solidFill>
                <a:latin typeface="Microsoft YaHei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226296" y="1993392"/>
            <a:ext cx="2057400" cy="310896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1">
                <a:solidFill>
                  <a:srgbClr val="163B5C"/>
                </a:solidFill>
                <a:latin typeface="Microsoft YaHei"/>
              </a:rPr>
              <a:t>答辩评委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226296" y="2359152"/>
            <a:ext cx="2103120" cy="53035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>
                <a:solidFill>
                  <a:srgbClr val="45677D"/>
                </a:solidFill>
                <a:latin typeface="Microsoft YaHei"/>
              </a:rPr>
              <a:t>观察主链路、安全行为
验证系统工作量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94360" y="3447288"/>
            <a:ext cx="11000232" cy="1170432"/>
          </a:xfrm>
          <a:prstGeom prst="roundRect">
            <a:avLst/>
          </a:prstGeom>
          <a:solidFill>
            <a:srgbClr val="EAFBFA"/>
          </a:solidFill>
          <a:ln w="12700">
            <a:solidFill>
              <a:srgbClr val="C1EA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22960" y="3602736"/>
            <a:ext cx="914400" cy="27432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300" b="1">
                <a:solidFill>
                  <a:srgbClr val="087C92"/>
                </a:solidFill>
                <a:latin typeface="Microsoft YaHei"/>
              </a:rPr>
              <a:t>核心用例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783080" y="3621024"/>
            <a:ext cx="1207008" cy="43891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2B8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783080" y="3621024"/>
            <a:ext cx="1207008" cy="43891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lnSpc>
                <a:spcPct val="105000"/>
              </a:lnSpc>
            </a:pPr>
            <a:r>
              <a:rPr sz="1000" b="1">
                <a:solidFill>
                  <a:srgbClr val="12B8A6"/>
                </a:solidFill>
                <a:latin typeface="Microsoft YaHei"/>
              </a:rPr>
              <a:t>新建会话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2999232" y="3840480"/>
            <a:ext cx="283464" cy="0"/>
          </a:xfrm>
          <a:prstGeom prst="line">
            <a:avLst/>
          </a:prstGeom>
          <a:ln w="19050">
            <a:solidFill>
              <a:srgbClr val="12B8A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Rounded Rectangle 26"/>
          <p:cNvSpPr/>
          <p:nvPr/>
        </p:nvSpPr>
        <p:spPr>
          <a:xfrm>
            <a:off x="3355848" y="3621024"/>
            <a:ext cx="1207008" cy="43891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3F72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355848" y="3621024"/>
            <a:ext cx="1207008" cy="43891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lnSpc>
                <a:spcPct val="105000"/>
              </a:lnSpc>
            </a:pPr>
            <a:r>
              <a:rPr sz="1000" b="1">
                <a:solidFill>
                  <a:srgbClr val="3F72BE"/>
                </a:solidFill>
                <a:latin typeface="Microsoft YaHei"/>
              </a:rPr>
              <a:t>多轮描述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4572000" y="3840480"/>
            <a:ext cx="283464" cy="0"/>
          </a:xfrm>
          <a:prstGeom prst="line">
            <a:avLst/>
          </a:prstGeom>
          <a:ln w="19050">
            <a:solidFill>
              <a:srgbClr val="3F72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Rounded Rectangle 29"/>
          <p:cNvSpPr/>
          <p:nvPr/>
        </p:nvSpPr>
        <p:spPr>
          <a:xfrm>
            <a:off x="4928616" y="3621024"/>
            <a:ext cx="1207008" cy="43891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7763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928616" y="3621024"/>
            <a:ext cx="1207008" cy="43891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lnSpc>
                <a:spcPct val="105000"/>
              </a:lnSpc>
            </a:pPr>
            <a:r>
              <a:rPr sz="1000" b="1">
                <a:solidFill>
                  <a:srgbClr val="7763CD"/>
                </a:solidFill>
                <a:latin typeface="Microsoft YaHei"/>
              </a:rPr>
              <a:t>RAG 检索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6144768" y="3840480"/>
            <a:ext cx="283463" cy="0"/>
          </a:xfrm>
          <a:prstGeom prst="line">
            <a:avLst/>
          </a:prstGeom>
          <a:ln w="19050">
            <a:solidFill>
              <a:srgbClr val="7763C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Rounded Rectangle 32"/>
          <p:cNvSpPr/>
          <p:nvPr/>
        </p:nvSpPr>
        <p:spPr>
          <a:xfrm>
            <a:off x="6501384" y="3621024"/>
            <a:ext cx="1207008" cy="43891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D45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501384" y="3621024"/>
            <a:ext cx="1207008" cy="43891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lnSpc>
                <a:spcPct val="105000"/>
              </a:lnSpc>
            </a:pPr>
            <a:r>
              <a:rPr sz="1000" b="1">
                <a:solidFill>
                  <a:srgbClr val="CD4554"/>
                </a:solidFill>
                <a:latin typeface="Microsoft YaHei"/>
              </a:rPr>
              <a:t>安全门禁</a:t>
            </a:r>
          </a:p>
        </p:txBody>
      </p:sp>
      <p:cxnSp>
        <p:nvCxnSpPr>
          <p:cNvPr id="35" name="Connector 34"/>
          <p:cNvCxnSpPr/>
          <p:nvPr/>
        </p:nvCxnSpPr>
        <p:spPr>
          <a:xfrm>
            <a:off x="7717536" y="3840480"/>
            <a:ext cx="283464" cy="0"/>
          </a:xfrm>
          <a:prstGeom prst="line">
            <a:avLst/>
          </a:prstGeom>
          <a:ln w="19050">
            <a:solidFill>
              <a:srgbClr val="CD455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Rounded Rectangle 35"/>
          <p:cNvSpPr/>
          <p:nvPr/>
        </p:nvSpPr>
        <p:spPr>
          <a:xfrm>
            <a:off x="8074152" y="3621024"/>
            <a:ext cx="1207008" cy="43891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2B99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074152" y="3621024"/>
            <a:ext cx="1207008" cy="43891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lnSpc>
                <a:spcPct val="105000"/>
              </a:lnSpc>
            </a:pPr>
            <a:r>
              <a:rPr sz="1000" b="1">
                <a:solidFill>
                  <a:srgbClr val="2B997A"/>
                </a:solidFill>
                <a:latin typeface="Microsoft YaHei"/>
              </a:rPr>
              <a:t>建议卡片</a:t>
            </a:r>
          </a:p>
        </p:txBody>
      </p:sp>
      <p:cxnSp>
        <p:nvCxnSpPr>
          <p:cNvPr id="38" name="Connector 37"/>
          <p:cNvCxnSpPr/>
          <p:nvPr/>
        </p:nvCxnSpPr>
        <p:spPr>
          <a:xfrm>
            <a:off x="9290304" y="3840480"/>
            <a:ext cx="283464" cy="0"/>
          </a:xfrm>
          <a:prstGeom prst="line">
            <a:avLst/>
          </a:prstGeom>
          <a:ln w="19050">
            <a:solidFill>
              <a:srgbClr val="2B99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Rounded Rectangle 38"/>
          <p:cNvSpPr/>
          <p:nvPr/>
        </p:nvSpPr>
        <p:spPr>
          <a:xfrm>
            <a:off x="9646919" y="3621024"/>
            <a:ext cx="1207008" cy="43891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87C9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9646919" y="3621024"/>
            <a:ext cx="1207008" cy="43891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lnSpc>
                <a:spcPct val="105000"/>
              </a:lnSpc>
            </a:pPr>
            <a:r>
              <a:rPr sz="1000" b="1">
                <a:solidFill>
                  <a:srgbClr val="087C92"/>
                </a:solidFill>
                <a:latin typeface="Microsoft YaHei"/>
              </a:rPr>
              <a:t>历史沉淀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594360" y="4892040"/>
            <a:ext cx="5257800" cy="113385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EEA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841248" y="5084064"/>
            <a:ext cx="1188720" cy="25603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300" b="1">
                <a:solidFill>
                  <a:srgbClr val="2B997A"/>
                </a:solidFill>
                <a:latin typeface="Microsoft YaHei"/>
              </a:rPr>
              <a:t>✓  范围内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41248" y="5422392"/>
            <a:ext cx="4572000" cy="27432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150" b="0">
                <a:solidFill>
                  <a:srgbClr val="45677D"/>
                </a:solidFill>
                <a:latin typeface="Microsoft YaHei"/>
              </a:rPr>
              <a:t>问诊 · RAG · 门禁 · 就诊卡 · 知识库 · 多媒体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6144768" y="4892040"/>
            <a:ext cx="5449824" cy="113385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4CF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391656" y="5084064"/>
            <a:ext cx="1188720" cy="25603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300" b="1">
                <a:solidFill>
                  <a:srgbClr val="CD4554"/>
                </a:solidFill>
                <a:latin typeface="Microsoft YaHei"/>
              </a:rPr>
              <a:t>×  范围外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391656" y="5422392"/>
            <a:ext cx="4572000" cy="27432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150" b="0">
                <a:solidFill>
                  <a:srgbClr val="45677D"/>
                </a:solidFill>
                <a:latin typeface="Microsoft YaHei"/>
              </a:rPr>
              <a:t>真实诊疗 · 电子处方 · 医保结算 · 自由开药</a:t>
            </a:r>
          </a:p>
        </p:txBody>
      </p:sp>
      <p:cxnSp>
        <p:nvCxnSpPr>
          <p:cNvPr id="47" name="Connector 46"/>
          <p:cNvCxnSpPr/>
          <p:nvPr/>
        </p:nvCxnSpPr>
        <p:spPr>
          <a:xfrm>
            <a:off x="502920" y="6510528"/>
            <a:ext cx="11183112" cy="0"/>
          </a:xfrm>
          <a:prstGeom prst="line">
            <a:avLst/>
          </a:prstGeom>
          <a:ln w="10160">
            <a:solidFill>
              <a:srgbClr val="D6EF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8" name="TextBox 47"/>
          <p:cNvSpPr txBox="1"/>
          <p:nvPr/>
        </p:nvSpPr>
        <p:spPr>
          <a:xfrm>
            <a:off x="530352" y="6547104"/>
            <a:ext cx="4937760" cy="16459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800" b="0">
                <a:solidFill>
                  <a:srgbClr val="7894A6"/>
                </a:solidFill>
                <a:latin typeface="Microsoft YaHei"/>
              </a:rPr>
              <a:t>青禾门诊 · 智能问诊 · 教学参考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1201400" y="6528816"/>
            <a:ext cx="438912" cy="18288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r">
              <a:lnSpc>
                <a:spcPct val="105000"/>
              </a:lnSpc>
            </a:pPr>
            <a:r>
              <a:rPr sz="900" b="1">
                <a:solidFill>
                  <a:srgbClr val="087C92"/>
                </a:solidFill>
                <a:latin typeface="Microsoft YaHei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C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Heart 1"/>
          <p:cNvSpPr/>
          <p:nvPr/>
        </p:nvSpPr>
        <p:spPr>
          <a:xfrm>
            <a:off x="347472" y="210312"/>
            <a:ext cx="292608" cy="292608"/>
          </a:xfrm>
          <a:prstGeom prst="heart">
            <a:avLst/>
          </a:prstGeom>
          <a:solidFill>
            <a:srgbClr val="12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164592"/>
            <a:ext cx="1645920" cy="30175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300" b="1">
                <a:solidFill>
                  <a:srgbClr val="087C92"/>
                </a:solidFill>
                <a:latin typeface="Microsoft YaHei"/>
              </a:rPr>
              <a:t>青禾门诊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76072" y="713232"/>
            <a:ext cx="2926080" cy="22860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1">
                <a:solidFill>
                  <a:srgbClr val="12B8A6"/>
                </a:solidFill>
                <a:latin typeface="Microsoft YaHei"/>
              </a:rPr>
              <a:t>04  FEATURES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941832"/>
            <a:ext cx="10698480" cy="56692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2700" b="1">
                <a:solidFill>
                  <a:srgbClr val="163B5C"/>
                </a:solidFill>
                <a:latin typeface="Microsoft YaHei"/>
              </a:rPr>
              <a:t>功能全景：围绕一次问诊形成完整闭环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85216" y="1490472"/>
            <a:ext cx="10607040" cy="31089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0">
                <a:solidFill>
                  <a:srgbClr val="7894A6"/>
                </a:solidFill>
                <a:latin typeface="Microsoft YaHei"/>
              </a:rPr>
              <a:t>不只是聊天窗口，而是输入、知识、安全、档案与沉淀协同的软件系统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92807"/>
            <a:ext cx="2578608" cy="161848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EF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566928" y="1892807"/>
            <a:ext cx="521207" cy="1618488"/>
          </a:xfrm>
          <a:prstGeom prst="roundRect">
            <a:avLst/>
          </a:prstGeom>
          <a:solidFill>
            <a:srgbClr val="12B8A6"/>
          </a:solidFill>
          <a:ln w="12700">
            <a:solidFill>
              <a:srgbClr val="12B8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94360" y="1965960"/>
            <a:ext cx="457200" cy="310896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lnSpc>
                <a:spcPct val="105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80160" y="2103120"/>
            <a:ext cx="1627632" cy="34747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1">
                <a:solidFill>
                  <a:srgbClr val="163B5C"/>
                </a:solidFill>
                <a:latin typeface="Microsoft YaHei"/>
              </a:rPr>
              <a:t>多轮智能问诊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80160" y="2606039"/>
            <a:ext cx="1627632" cy="61264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0">
                <a:solidFill>
                  <a:srgbClr val="45677D"/>
                </a:solidFill>
                <a:latin typeface="Microsoft YaHei"/>
              </a:rPr>
              <a:t>连续追问症状、时长、程度等关键信息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447288" y="1892807"/>
            <a:ext cx="2578608" cy="161848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EF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3447288" y="1892807"/>
            <a:ext cx="521207" cy="1618488"/>
          </a:xfrm>
          <a:prstGeom prst="roundRect">
            <a:avLst/>
          </a:prstGeom>
          <a:solidFill>
            <a:srgbClr val="3F72BE"/>
          </a:solidFill>
          <a:ln w="12700">
            <a:solidFill>
              <a:srgbClr val="3F72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474720" y="1965960"/>
            <a:ext cx="457200" cy="310896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lnSpc>
                <a:spcPct val="105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160520" y="2103120"/>
            <a:ext cx="1627632" cy="34747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1">
                <a:solidFill>
                  <a:srgbClr val="163B5C"/>
                </a:solidFill>
                <a:latin typeface="Microsoft YaHei"/>
              </a:rPr>
              <a:t>RAG 知识增强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160520" y="2606039"/>
            <a:ext cx="1627632" cy="61264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0">
                <a:solidFill>
                  <a:srgbClr val="45677D"/>
                </a:solidFill>
                <a:latin typeface="Microsoft YaHei"/>
              </a:rPr>
              <a:t>混合检索科普资料，回答附知识依据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327648" y="1892807"/>
            <a:ext cx="2578608" cy="161848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EF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6327648" y="1892807"/>
            <a:ext cx="521207" cy="1618488"/>
          </a:xfrm>
          <a:prstGeom prst="roundRect">
            <a:avLst/>
          </a:prstGeom>
          <a:solidFill>
            <a:srgbClr val="CD4554"/>
          </a:solidFill>
          <a:ln w="12700">
            <a:solidFill>
              <a:srgbClr val="CD45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355080" y="1965960"/>
            <a:ext cx="457200" cy="310896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lnSpc>
                <a:spcPct val="105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</a:rPr>
              <a:t>03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040880" y="2103120"/>
            <a:ext cx="1627632" cy="34747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1">
                <a:solidFill>
                  <a:srgbClr val="163B5C"/>
                </a:solidFill>
                <a:latin typeface="Microsoft YaHei"/>
              </a:rPr>
              <a:t>双重安全门禁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040880" y="2606039"/>
            <a:ext cx="1627632" cy="61264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0">
                <a:solidFill>
                  <a:srgbClr val="45677D"/>
                </a:solidFill>
                <a:latin typeface="Microsoft YaHei"/>
              </a:rPr>
              <a:t>红旗急诊出口 + 药品白名单校验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208007" y="1892807"/>
            <a:ext cx="2578608" cy="161848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EF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9208007" y="1892807"/>
            <a:ext cx="521207" cy="1618488"/>
          </a:xfrm>
          <a:prstGeom prst="roundRect">
            <a:avLst/>
          </a:prstGeom>
          <a:solidFill>
            <a:srgbClr val="E79248"/>
          </a:solidFill>
          <a:ln w="12700">
            <a:solidFill>
              <a:srgbClr val="E792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235439" y="1965960"/>
            <a:ext cx="457200" cy="310896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lnSpc>
                <a:spcPct val="105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</a:rPr>
              <a:t>04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921239" y="2103120"/>
            <a:ext cx="1627632" cy="34747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1">
                <a:solidFill>
                  <a:srgbClr val="163B5C"/>
                </a:solidFill>
                <a:latin typeface="Microsoft YaHei"/>
              </a:rPr>
              <a:t>结构化建议卡片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921239" y="2606039"/>
            <a:ext cx="1627632" cy="61264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0">
                <a:solidFill>
                  <a:srgbClr val="45677D"/>
                </a:solidFill>
                <a:latin typeface="Microsoft YaHei"/>
              </a:rPr>
              <a:t>诊断参考、处理建议、用药与免责声明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66928" y="3858768"/>
            <a:ext cx="2578608" cy="161848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EF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566928" y="3858768"/>
            <a:ext cx="521207" cy="1618488"/>
          </a:xfrm>
          <a:prstGeom prst="roundRect">
            <a:avLst/>
          </a:prstGeom>
          <a:solidFill>
            <a:srgbClr val="7763CD"/>
          </a:solidFill>
          <a:ln w="12700">
            <a:solidFill>
              <a:srgbClr val="7763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94360" y="3931920"/>
            <a:ext cx="457200" cy="310896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lnSpc>
                <a:spcPct val="105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</a:rPr>
              <a:t>05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280160" y="4069080"/>
            <a:ext cx="1627632" cy="34747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1">
                <a:solidFill>
                  <a:srgbClr val="163B5C"/>
                </a:solidFill>
                <a:latin typeface="Microsoft YaHei"/>
              </a:rPr>
              <a:t>多就诊卡管理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280160" y="4572000"/>
            <a:ext cx="1627632" cy="61264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0">
                <a:solidFill>
                  <a:srgbClr val="45677D"/>
                </a:solidFill>
                <a:latin typeface="Microsoft YaHei"/>
              </a:rPr>
              <a:t>维护基础信息、既往史、过敏史并关联问诊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3447288" y="3858768"/>
            <a:ext cx="2578608" cy="161848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EF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3447288" y="3858768"/>
            <a:ext cx="521207" cy="1618488"/>
          </a:xfrm>
          <a:prstGeom prst="roundRect">
            <a:avLst/>
          </a:prstGeom>
          <a:solidFill>
            <a:srgbClr val="087C92"/>
          </a:solidFill>
          <a:ln w="12700">
            <a:solidFill>
              <a:srgbClr val="087C9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474720" y="3931920"/>
            <a:ext cx="457200" cy="310896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lnSpc>
                <a:spcPct val="105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</a:rPr>
              <a:t>06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160520" y="4069080"/>
            <a:ext cx="1627632" cy="34747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1">
                <a:solidFill>
                  <a:srgbClr val="163B5C"/>
                </a:solidFill>
                <a:latin typeface="Microsoft YaHei"/>
              </a:rPr>
              <a:t>历史会话管理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160520" y="4572000"/>
            <a:ext cx="1627632" cy="61264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0">
                <a:solidFill>
                  <a:srgbClr val="45677D"/>
                </a:solidFill>
                <a:latin typeface="Microsoft YaHei"/>
              </a:rPr>
              <a:t>打开、重命名、单删与多选批量删除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6327648" y="3858768"/>
            <a:ext cx="2578608" cy="161848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EF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ounded Rectangle 37"/>
          <p:cNvSpPr/>
          <p:nvPr/>
        </p:nvSpPr>
        <p:spPr>
          <a:xfrm>
            <a:off x="6327648" y="3858768"/>
            <a:ext cx="521207" cy="1618488"/>
          </a:xfrm>
          <a:prstGeom prst="roundRect">
            <a:avLst/>
          </a:prstGeom>
          <a:solidFill>
            <a:srgbClr val="2B997A"/>
          </a:solidFill>
          <a:ln w="12700">
            <a:solidFill>
              <a:srgbClr val="2B99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355080" y="3931920"/>
            <a:ext cx="457200" cy="310896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lnSpc>
                <a:spcPct val="105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</a:rPr>
              <a:t>07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040880" y="4069080"/>
            <a:ext cx="1627632" cy="34747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1">
                <a:solidFill>
                  <a:srgbClr val="163B5C"/>
                </a:solidFill>
                <a:latin typeface="Microsoft YaHei"/>
              </a:rPr>
              <a:t>知识库前台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040880" y="4572000"/>
            <a:ext cx="1627632" cy="61264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0">
                <a:solidFill>
                  <a:srgbClr val="45677D"/>
                </a:solidFill>
                <a:latin typeface="Microsoft YaHei"/>
              </a:rPr>
              <a:t>分类浏览、关键词检索与教学资料补录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9208007" y="3858768"/>
            <a:ext cx="2578608" cy="161848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EF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ounded Rectangle 42"/>
          <p:cNvSpPr/>
          <p:nvPr/>
        </p:nvSpPr>
        <p:spPr>
          <a:xfrm>
            <a:off x="9208007" y="3858768"/>
            <a:ext cx="521207" cy="1618488"/>
          </a:xfrm>
          <a:prstGeom prst="roundRect">
            <a:avLst/>
          </a:prstGeom>
          <a:solidFill>
            <a:srgbClr val="3F72BE"/>
          </a:solidFill>
          <a:ln w="12700">
            <a:solidFill>
              <a:srgbClr val="3F72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9235439" y="3931920"/>
            <a:ext cx="457200" cy="310896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lnSpc>
                <a:spcPct val="105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</a:rPr>
              <a:t>08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921239" y="4069080"/>
            <a:ext cx="1627632" cy="34747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1">
                <a:solidFill>
                  <a:srgbClr val="163B5C"/>
                </a:solidFill>
                <a:latin typeface="Microsoft YaHei"/>
              </a:rPr>
              <a:t>语音与图片输入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921239" y="4572000"/>
            <a:ext cx="1627632" cy="61264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0">
                <a:solidFill>
                  <a:srgbClr val="45677D"/>
                </a:solidFill>
                <a:latin typeface="Microsoft YaHei"/>
              </a:rPr>
              <a:t>语音转写、体征图片观察，仍统一经过门禁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31520" y="5897880"/>
            <a:ext cx="10698480" cy="310896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lnSpc>
                <a:spcPct val="105000"/>
              </a:lnSpc>
            </a:pPr>
            <a:r>
              <a:rPr sz="1100" b="1">
                <a:solidFill>
                  <a:srgbClr val="087C92"/>
                </a:solidFill>
                <a:latin typeface="Microsoft YaHei"/>
              </a:rPr>
              <a:t>贯穿能力：SSE 流式反馈 · 过期会话自动重建 · 检索组件优雅降级</a:t>
            </a:r>
          </a:p>
        </p:txBody>
      </p:sp>
      <p:cxnSp>
        <p:nvCxnSpPr>
          <p:cNvPr id="48" name="Connector 47"/>
          <p:cNvCxnSpPr/>
          <p:nvPr/>
        </p:nvCxnSpPr>
        <p:spPr>
          <a:xfrm>
            <a:off x="502920" y="6510528"/>
            <a:ext cx="11183112" cy="0"/>
          </a:xfrm>
          <a:prstGeom prst="line">
            <a:avLst/>
          </a:prstGeom>
          <a:ln w="10160">
            <a:solidFill>
              <a:srgbClr val="D6EF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9" name="TextBox 48"/>
          <p:cNvSpPr txBox="1"/>
          <p:nvPr/>
        </p:nvSpPr>
        <p:spPr>
          <a:xfrm>
            <a:off x="530352" y="6547104"/>
            <a:ext cx="4937760" cy="16459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800" b="0">
                <a:solidFill>
                  <a:srgbClr val="7894A6"/>
                </a:solidFill>
                <a:latin typeface="Microsoft YaHei"/>
              </a:rPr>
              <a:t>青禾门诊 · 智能问诊 · 教学参考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1201400" y="6528816"/>
            <a:ext cx="438912" cy="18288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r">
              <a:lnSpc>
                <a:spcPct val="105000"/>
              </a:lnSpc>
            </a:pPr>
            <a:r>
              <a:rPr sz="900" b="1">
                <a:solidFill>
                  <a:srgbClr val="087C92"/>
                </a:solidFill>
                <a:latin typeface="Microsoft YaHei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C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Heart 1"/>
          <p:cNvSpPr/>
          <p:nvPr/>
        </p:nvSpPr>
        <p:spPr>
          <a:xfrm>
            <a:off x="347472" y="210312"/>
            <a:ext cx="292608" cy="292608"/>
          </a:xfrm>
          <a:prstGeom prst="heart">
            <a:avLst/>
          </a:prstGeom>
          <a:solidFill>
            <a:srgbClr val="12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164592"/>
            <a:ext cx="1645920" cy="30175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300" b="1">
                <a:solidFill>
                  <a:srgbClr val="087C92"/>
                </a:solidFill>
                <a:latin typeface="Microsoft YaHei"/>
              </a:rPr>
              <a:t>青禾门诊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76072" y="713232"/>
            <a:ext cx="2926080" cy="22860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1">
                <a:solidFill>
                  <a:srgbClr val="12B8A6"/>
                </a:solidFill>
                <a:latin typeface="Microsoft YaHei"/>
              </a:rPr>
              <a:t>05  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941832"/>
            <a:ext cx="10698480" cy="56692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2700" b="1">
                <a:solidFill>
                  <a:srgbClr val="163B5C"/>
                </a:solidFill>
                <a:latin typeface="Microsoft YaHei"/>
              </a:rPr>
              <a:t>总体架构：前后端分离，安全能力落在 Java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85216" y="1490472"/>
            <a:ext cx="10607040" cy="31089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0">
                <a:solidFill>
                  <a:srgbClr val="7894A6"/>
                </a:solidFill>
                <a:latin typeface="Microsoft YaHei"/>
              </a:rPr>
              <a:t>必开组件精简；检索与图谱可缺席降级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1874519"/>
            <a:ext cx="7726679" cy="7132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87C9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58368" y="1874519"/>
            <a:ext cx="1874519" cy="713232"/>
          </a:xfrm>
          <a:prstGeom prst="roundRect">
            <a:avLst/>
          </a:prstGeom>
          <a:solidFill>
            <a:srgbClr val="087C92"/>
          </a:solidFill>
          <a:ln w="12700">
            <a:solidFill>
              <a:srgbClr val="087C9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86384" y="1874519"/>
            <a:ext cx="1618488" cy="71323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lnSpc>
                <a:spcPct val="105000"/>
              </a:lnSpc>
            </a:pPr>
            <a:r>
              <a:rPr sz="1150" b="1">
                <a:solidFill>
                  <a:srgbClr val="FFFFFF"/>
                </a:solidFill>
                <a:latin typeface="Microsoft YaHei"/>
              </a:rPr>
              <a:t>表现层 · React + Vite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724912" y="2066543"/>
            <a:ext cx="941832" cy="329184"/>
          </a:xfrm>
          <a:prstGeom prst="roundRect">
            <a:avLst/>
          </a:prstGeom>
          <a:solidFill>
            <a:srgbClr val="EAFBFA"/>
          </a:solidFill>
          <a:ln w="12700">
            <a:solidFill>
              <a:srgbClr val="EAFB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724912" y="2066543"/>
            <a:ext cx="941832" cy="329184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lnSpc>
                <a:spcPct val="105000"/>
              </a:lnSpc>
            </a:pPr>
            <a:r>
              <a:rPr sz="1000" b="1">
                <a:solidFill>
                  <a:srgbClr val="087C92"/>
                </a:solidFill>
                <a:latin typeface="Microsoft YaHei"/>
              </a:rPr>
              <a:t>问诊页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794760" y="2066543"/>
            <a:ext cx="941832" cy="329184"/>
          </a:xfrm>
          <a:prstGeom prst="roundRect">
            <a:avLst/>
          </a:prstGeom>
          <a:solidFill>
            <a:srgbClr val="EAFBFA"/>
          </a:solidFill>
          <a:ln w="12700">
            <a:solidFill>
              <a:srgbClr val="EAFB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794760" y="2066543"/>
            <a:ext cx="941832" cy="329184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lnSpc>
                <a:spcPct val="105000"/>
              </a:lnSpc>
            </a:pPr>
            <a:r>
              <a:rPr sz="1000" b="1">
                <a:solidFill>
                  <a:srgbClr val="087C92"/>
                </a:solidFill>
                <a:latin typeface="Microsoft YaHei"/>
              </a:rPr>
              <a:t>就诊卡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864608" y="2066543"/>
            <a:ext cx="941832" cy="329184"/>
          </a:xfrm>
          <a:prstGeom prst="roundRect">
            <a:avLst/>
          </a:prstGeom>
          <a:solidFill>
            <a:srgbClr val="EAFBFA"/>
          </a:solidFill>
          <a:ln w="12700">
            <a:solidFill>
              <a:srgbClr val="EAFB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864608" y="2066543"/>
            <a:ext cx="941832" cy="329184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lnSpc>
                <a:spcPct val="105000"/>
              </a:lnSpc>
            </a:pPr>
            <a:r>
              <a:rPr sz="1000" b="1">
                <a:solidFill>
                  <a:srgbClr val="087C92"/>
                </a:solidFill>
                <a:latin typeface="Microsoft YaHei"/>
              </a:rPr>
              <a:t>知识库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934456" y="2066543"/>
            <a:ext cx="941832" cy="329184"/>
          </a:xfrm>
          <a:prstGeom prst="roundRect">
            <a:avLst/>
          </a:prstGeom>
          <a:solidFill>
            <a:srgbClr val="EAFBFA"/>
          </a:solidFill>
          <a:ln w="12700">
            <a:solidFill>
              <a:srgbClr val="EAFB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934456" y="2066543"/>
            <a:ext cx="941832" cy="329184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lnSpc>
                <a:spcPct val="105000"/>
              </a:lnSpc>
            </a:pPr>
            <a:r>
              <a:rPr sz="1000" b="1">
                <a:solidFill>
                  <a:srgbClr val="087C92"/>
                </a:solidFill>
                <a:latin typeface="Microsoft YaHei"/>
              </a:rPr>
              <a:t>历史侧栏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004304" y="2066543"/>
            <a:ext cx="941832" cy="329184"/>
          </a:xfrm>
          <a:prstGeom prst="roundRect">
            <a:avLst/>
          </a:prstGeom>
          <a:solidFill>
            <a:srgbClr val="EAFBFA"/>
          </a:solidFill>
          <a:ln w="12700">
            <a:solidFill>
              <a:srgbClr val="EAFB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004304" y="2066543"/>
            <a:ext cx="941832" cy="329184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lnSpc>
                <a:spcPct val="105000"/>
              </a:lnSpc>
            </a:pPr>
            <a:r>
              <a:rPr sz="1000" b="1">
                <a:solidFill>
                  <a:srgbClr val="087C92"/>
                </a:solidFill>
                <a:latin typeface="Microsoft YaHei"/>
              </a:rPr>
              <a:t>SSE 卡片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58368" y="2788920"/>
            <a:ext cx="7726679" cy="7132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3F72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658368" y="2788920"/>
            <a:ext cx="1874519" cy="713232"/>
          </a:xfrm>
          <a:prstGeom prst="roundRect">
            <a:avLst/>
          </a:prstGeom>
          <a:solidFill>
            <a:srgbClr val="3F72BE"/>
          </a:solidFill>
          <a:ln w="12700">
            <a:solidFill>
              <a:srgbClr val="3F72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86384" y="2788920"/>
            <a:ext cx="1618488" cy="71323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lnSpc>
                <a:spcPct val="105000"/>
              </a:lnSpc>
            </a:pPr>
            <a:r>
              <a:rPr sz="1150" b="1">
                <a:solidFill>
                  <a:srgbClr val="FFFFFF"/>
                </a:solidFill>
                <a:latin typeface="Microsoft YaHei"/>
              </a:rPr>
              <a:t>应用层 · Spring Boot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2724912" y="2980944"/>
            <a:ext cx="941832" cy="329184"/>
          </a:xfrm>
          <a:prstGeom prst="roundRect">
            <a:avLst/>
          </a:prstGeom>
          <a:solidFill>
            <a:srgbClr val="EAFBFA"/>
          </a:solidFill>
          <a:ln w="12700">
            <a:solidFill>
              <a:srgbClr val="EAFB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724912" y="2980944"/>
            <a:ext cx="941832" cy="329184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lnSpc>
                <a:spcPct val="105000"/>
              </a:lnSpc>
            </a:pPr>
            <a:r>
              <a:rPr sz="1000" b="1">
                <a:solidFill>
                  <a:srgbClr val="087C92"/>
                </a:solidFill>
                <a:latin typeface="Microsoft YaHei"/>
              </a:rPr>
              <a:t>REST / SSE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3794760" y="2980944"/>
            <a:ext cx="941832" cy="329184"/>
          </a:xfrm>
          <a:prstGeom prst="roundRect">
            <a:avLst/>
          </a:prstGeom>
          <a:solidFill>
            <a:srgbClr val="EAFBFA"/>
          </a:solidFill>
          <a:ln w="12700">
            <a:solidFill>
              <a:srgbClr val="EAFB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794760" y="2980944"/>
            <a:ext cx="941832" cy="329184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lnSpc>
                <a:spcPct val="105000"/>
              </a:lnSpc>
            </a:pPr>
            <a:r>
              <a:rPr sz="1000" b="1">
                <a:solidFill>
                  <a:srgbClr val="087C92"/>
                </a:solidFill>
                <a:latin typeface="Microsoft YaHei"/>
              </a:rPr>
              <a:t>ConsultOrchestrator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864608" y="2980944"/>
            <a:ext cx="941832" cy="329184"/>
          </a:xfrm>
          <a:prstGeom prst="roundRect">
            <a:avLst/>
          </a:prstGeom>
          <a:solidFill>
            <a:srgbClr val="EAFBFA"/>
          </a:solidFill>
          <a:ln w="12700">
            <a:solidFill>
              <a:srgbClr val="EAFB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864608" y="2980944"/>
            <a:ext cx="941832" cy="329184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lnSpc>
                <a:spcPct val="105000"/>
              </a:lnSpc>
            </a:pPr>
            <a:r>
              <a:rPr sz="1000" b="1">
                <a:solidFill>
                  <a:srgbClr val="087C92"/>
                </a:solidFill>
                <a:latin typeface="Microsoft YaHei"/>
              </a:rPr>
              <a:t>Profile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5934456" y="2980944"/>
            <a:ext cx="941832" cy="329184"/>
          </a:xfrm>
          <a:prstGeom prst="roundRect">
            <a:avLst/>
          </a:prstGeom>
          <a:solidFill>
            <a:srgbClr val="EAFBFA"/>
          </a:solidFill>
          <a:ln w="12700">
            <a:solidFill>
              <a:srgbClr val="EAFB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934456" y="2980944"/>
            <a:ext cx="941832" cy="329184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lnSpc>
                <a:spcPct val="105000"/>
              </a:lnSpc>
            </a:pPr>
            <a:r>
              <a:rPr sz="1000" b="1">
                <a:solidFill>
                  <a:srgbClr val="087C92"/>
                </a:solidFill>
                <a:latin typeface="Microsoft YaHei"/>
              </a:rPr>
              <a:t>Media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7004304" y="2980944"/>
            <a:ext cx="941832" cy="329184"/>
          </a:xfrm>
          <a:prstGeom prst="roundRect">
            <a:avLst/>
          </a:prstGeom>
          <a:solidFill>
            <a:srgbClr val="EAFBFA"/>
          </a:solidFill>
          <a:ln w="12700">
            <a:solidFill>
              <a:srgbClr val="EAFB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004304" y="2980944"/>
            <a:ext cx="941832" cy="329184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lnSpc>
                <a:spcPct val="105000"/>
              </a:lnSpc>
            </a:pPr>
            <a:r>
              <a:rPr sz="1000" b="1">
                <a:solidFill>
                  <a:srgbClr val="087C92"/>
                </a:solidFill>
                <a:latin typeface="Microsoft YaHei"/>
              </a:rPr>
              <a:t>Knowledge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58368" y="3703320"/>
            <a:ext cx="7726679" cy="7132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7763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658368" y="3703320"/>
            <a:ext cx="1874519" cy="713232"/>
          </a:xfrm>
          <a:prstGeom prst="roundRect">
            <a:avLst/>
          </a:prstGeom>
          <a:solidFill>
            <a:srgbClr val="7763CD"/>
          </a:solidFill>
          <a:ln w="12700">
            <a:solidFill>
              <a:srgbClr val="7763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86384" y="3703320"/>
            <a:ext cx="1618488" cy="71323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lnSpc>
                <a:spcPct val="105000"/>
              </a:lnSpc>
            </a:pPr>
            <a:r>
              <a:rPr sz="1150" b="1">
                <a:solidFill>
                  <a:srgbClr val="FFFFFF"/>
                </a:solidFill>
                <a:latin typeface="Microsoft YaHei"/>
              </a:rPr>
              <a:t>领域层 · domain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2724912" y="3895344"/>
            <a:ext cx="941832" cy="329184"/>
          </a:xfrm>
          <a:prstGeom prst="roundRect">
            <a:avLst/>
          </a:prstGeom>
          <a:solidFill>
            <a:srgbClr val="EAFBFA"/>
          </a:solidFill>
          <a:ln w="12700">
            <a:solidFill>
              <a:srgbClr val="EAFB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2724912" y="3895344"/>
            <a:ext cx="941832" cy="329184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lnSpc>
                <a:spcPct val="105000"/>
              </a:lnSpc>
            </a:pPr>
            <a:r>
              <a:rPr sz="1000" b="1">
                <a:solidFill>
                  <a:srgbClr val="087C92"/>
                </a:solidFill>
                <a:latin typeface="Microsoft YaHei"/>
              </a:rPr>
              <a:t>SafetyGate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3794760" y="3895344"/>
            <a:ext cx="941832" cy="329184"/>
          </a:xfrm>
          <a:prstGeom prst="roundRect">
            <a:avLst/>
          </a:prstGeom>
          <a:solidFill>
            <a:srgbClr val="EAFBFA"/>
          </a:solidFill>
          <a:ln w="12700">
            <a:solidFill>
              <a:srgbClr val="EAFB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3794760" y="3895344"/>
            <a:ext cx="941832" cy="329184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lnSpc>
                <a:spcPct val="105000"/>
              </a:lnSpc>
            </a:pPr>
            <a:r>
              <a:rPr sz="1000" b="1">
                <a:solidFill>
                  <a:srgbClr val="087C92"/>
                </a:solidFill>
                <a:latin typeface="Microsoft YaHei"/>
              </a:rPr>
              <a:t>白名单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4864608" y="3895344"/>
            <a:ext cx="941832" cy="329184"/>
          </a:xfrm>
          <a:prstGeom prst="roundRect">
            <a:avLst/>
          </a:prstGeom>
          <a:solidFill>
            <a:srgbClr val="EAFBFA"/>
          </a:solidFill>
          <a:ln w="12700">
            <a:solidFill>
              <a:srgbClr val="EAFB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864608" y="3895344"/>
            <a:ext cx="941832" cy="329184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lnSpc>
                <a:spcPct val="105000"/>
              </a:lnSpc>
            </a:pPr>
            <a:r>
              <a:rPr sz="1000" b="1">
                <a:solidFill>
                  <a:srgbClr val="087C92"/>
                </a:solidFill>
                <a:latin typeface="Microsoft YaHei"/>
              </a:rPr>
              <a:t>红旗否定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5934456" y="3895344"/>
            <a:ext cx="941832" cy="329184"/>
          </a:xfrm>
          <a:prstGeom prst="roundRect">
            <a:avLst/>
          </a:prstGeom>
          <a:solidFill>
            <a:srgbClr val="EAFBFA"/>
          </a:solidFill>
          <a:ln w="12700">
            <a:solidFill>
              <a:srgbClr val="EAFB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5934456" y="3895344"/>
            <a:ext cx="941832" cy="329184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lnSpc>
                <a:spcPct val="105000"/>
              </a:lnSpc>
            </a:pPr>
            <a:r>
              <a:rPr sz="1000" b="1">
                <a:solidFill>
                  <a:srgbClr val="087C92"/>
                </a:solidFill>
                <a:latin typeface="Microsoft YaHei"/>
              </a:rPr>
              <a:t>会话记忆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7004304" y="3895344"/>
            <a:ext cx="941832" cy="329184"/>
          </a:xfrm>
          <a:prstGeom prst="roundRect">
            <a:avLst/>
          </a:prstGeom>
          <a:solidFill>
            <a:srgbClr val="EAFBFA"/>
          </a:solidFill>
          <a:ln w="12700">
            <a:solidFill>
              <a:srgbClr val="EAFB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7004304" y="3895344"/>
            <a:ext cx="941832" cy="329184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lnSpc>
                <a:spcPct val="105000"/>
              </a:lnSpc>
            </a:pPr>
            <a:r>
              <a:rPr sz="1000" b="1">
                <a:solidFill>
                  <a:srgbClr val="087C92"/>
                </a:solidFill>
                <a:latin typeface="Microsoft YaHei"/>
              </a:rPr>
              <a:t>就诊卡规则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8668512" y="1874519"/>
            <a:ext cx="2907792" cy="25420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EF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8942832" y="2084831"/>
            <a:ext cx="1371600" cy="27432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1">
                <a:solidFill>
                  <a:srgbClr val="163B5C"/>
                </a:solidFill>
                <a:latin typeface="Microsoft YaHei"/>
              </a:rPr>
              <a:t>外部能力</a:t>
            </a:r>
          </a:p>
        </p:txBody>
      </p:sp>
      <p:sp>
        <p:nvSpPr>
          <p:cNvPr id="48" name="Oval 47"/>
          <p:cNvSpPr/>
          <p:nvPr/>
        </p:nvSpPr>
        <p:spPr>
          <a:xfrm>
            <a:off x="8961120" y="2578608"/>
            <a:ext cx="310896" cy="310896"/>
          </a:xfrm>
          <a:prstGeom prst="ellipse">
            <a:avLst/>
          </a:prstGeom>
          <a:solidFill>
            <a:srgbClr val="12B8A6"/>
          </a:solidFill>
          <a:ln w="12700">
            <a:solidFill>
              <a:srgbClr val="12B8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9418320" y="2569464"/>
            <a:ext cx="640080" cy="25603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1">
                <a:solidFill>
                  <a:srgbClr val="163B5C"/>
                </a:solidFill>
                <a:latin typeface="Microsoft YaHei"/>
              </a:rPr>
              <a:t>LLM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0058400" y="2569464"/>
            <a:ext cx="1234440" cy="25603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950" b="0">
                <a:solidFill>
                  <a:srgbClr val="45677D"/>
                </a:solidFill>
                <a:latin typeface="Microsoft YaHei"/>
              </a:rPr>
              <a:t>追问与生成</a:t>
            </a:r>
          </a:p>
        </p:txBody>
      </p:sp>
      <p:sp>
        <p:nvSpPr>
          <p:cNvPr id="51" name="Oval 50"/>
          <p:cNvSpPr/>
          <p:nvPr/>
        </p:nvSpPr>
        <p:spPr>
          <a:xfrm>
            <a:off x="8961120" y="3154679"/>
            <a:ext cx="310896" cy="310896"/>
          </a:xfrm>
          <a:prstGeom prst="ellipse">
            <a:avLst/>
          </a:prstGeom>
          <a:solidFill>
            <a:srgbClr val="3F72BE"/>
          </a:solidFill>
          <a:ln w="12700">
            <a:solidFill>
              <a:srgbClr val="3F72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9418320" y="3145536"/>
            <a:ext cx="640080" cy="25603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1">
                <a:solidFill>
                  <a:srgbClr val="163B5C"/>
                </a:solidFill>
                <a:latin typeface="Microsoft YaHei"/>
              </a:rPr>
              <a:t>RAG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10058400" y="3145536"/>
            <a:ext cx="1234440" cy="25603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950" b="0">
                <a:solidFill>
                  <a:srgbClr val="45677D"/>
                </a:solidFill>
                <a:latin typeface="Microsoft YaHei"/>
              </a:rPr>
              <a:t>向量 / 关键词 / 图谱</a:t>
            </a:r>
          </a:p>
        </p:txBody>
      </p:sp>
      <p:sp>
        <p:nvSpPr>
          <p:cNvPr id="54" name="Oval 53"/>
          <p:cNvSpPr/>
          <p:nvPr/>
        </p:nvSpPr>
        <p:spPr>
          <a:xfrm>
            <a:off x="8961120" y="3730752"/>
            <a:ext cx="310896" cy="310896"/>
          </a:xfrm>
          <a:prstGeom prst="ellipse">
            <a:avLst/>
          </a:prstGeom>
          <a:solidFill>
            <a:srgbClr val="E79248"/>
          </a:solidFill>
          <a:ln w="12700">
            <a:solidFill>
              <a:srgbClr val="E792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9418320" y="3721608"/>
            <a:ext cx="640080" cy="25603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1">
                <a:solidFill>
                  <a:srgbClr val="163B5C"/>
                </a:solidFill>
                <a:latin typeface="Microsoft YaHei"/>
              </a:rPr>
              <a:t>多媒体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0058400" y="3721608"/>
            <a:ext cx="1234440" cy="25603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950" b="0">
                <a:solidFill>
                  <a:srgbClr val="45677D"/>
                </a:solidFill>
                <a:latin typeface="Microsoft YaHei"/>
              </a:rPr>
              <a:t>语音转写 / 图片观察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658368" y="4700016"/>
            <a:ext cx="10917936" cy="676656"/>
          </a:xfrm>
          <a:prstGeom prst="roundRect">
            <a:avLst/>
          </a:prstGeom>
          <a:solidFill>
            <a:srgbClr val="F0F9FC"/>
          </a:solidFill>
          <a:ln w="12700">
            <a:solidFill>
              <a:srgbClr val="B7DC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896112" y="4700016"/>
            <a:ext cx="1280160" cy="676656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lnSpc>
                <a:spcPct val="105000"/>
              </a:lnSpc>
            </a:pPr>
            <a:r>
              <a:rPr sz="1400" b="1">
                <a:solidFill>
                  <a:srgbClr val="3F72BE"/>
                </a:solidFill>
                <a:latin typeface="Microsoft YaHei"/>
              </a:rPr>
              <a:t>MySQL 8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2148840" y="4700016"/>
            <a:ext cx="5669280" cy="676656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200" b="0">
                <a:solidFill>
                  <a:srgbClr val="45677D"/>
                </a:solidFill>
                <a:latin typeface="Microsoft YaHei"/>
              </a:rPr>
              <a:t>会话 · 消息 · 就诊卡 · 病/症/药/红旗 · 知识底账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10012680" y="4873752"/>
            <a:ext cx="640080" cy="329184"/>
          </a:xfrm>
          <a:prstGeom prst="roundRect">
            <a:avLst/>
          </a:prstGeom>
          <a:solidFill>
            <a:srgbClr val="E7F7F0"/>
          </a:solidFill>
          <a:ln w="12700">
            <a:solidFill>
              <a:srgbClr val="E7F7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10012680" y="4873752"/>
            <a:ext cx="640080" cy="329184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lnSpc>
                <a:spcPct val="105000"/>
              </a:lnSpc>
            </a:pPr>
            <a:r>
              <a:rPr sz="1000" b="1">
                <a:solidFill>
                  <a:srgbClr val="2B997A"/>
                </a:solidFill>
                <a:latin typeface="Microsoft YaHei"/>
              </a:rPr>
              <a:t>必开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713232" y="5623560"/>
            <a:ext cx="914400" cy="25603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1">
                <a:solidFill>
                  <a:srgbClr val="087C92"/>
                </a:solidFill>
                <a:latin typeface="Microsoft YaHei"/>
              </a:rPr>
              <a:t>开发部署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1691640" y="5623560"/>
            <a:ext cx="1097280" cy="25603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0">
                <a:solidFill>
                  <a:srgbClr val="45677D"/>
                </a:solidFill>
                <a:latin typeface="Microsoft YaHei"/>
              </a:rPr>
              <a:t>5173  前端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2926080" y="5623560"/>
            <a:ext cx="1097280" cy="25603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0">
                <a:solidFill>
                  <a:srgbClr val="45677D"/>
                </a:solidFill>
                <a:latin typeface="Microsoft YaHei"/>
              </a:rPr>
              <a:t>8082  后端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4160520" y="5623560"/>
            <a:ext cx="1280160" cy="25603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0">
                <a:solidFill>
                  <a:srgbClr val="45677D"/>
                </a:solidFill>
                <a:latin typeface="Microsoft YaHei"/>
              </a:rPr>
              <a:t>3306  MySQL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5623560" y="5623560"/>
            <a:ext cx="1920240" cy="25603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0">
                <a:solidFill>
                  <a:srgbClr val="7894A6"/>
                </a:solidFill>
                <a:latin typeface="Microsoft YaHei"/>
              </a:rPr>
              <a:t>8000/8001  向量（可选）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7818120" y="5623560"/>
            <a:ext cx="1645920" cy="25603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0">
                <a:solidFill>
                  <a:srgbClr val="7894A6"/>
                </a:solidFill>
                <a:latin typeface="Microsoft YaHei"/>
              </a:rPr>
              <a:t>7687  图谱（可选）</a:t>
            </a:r>
          </a:p>
        </p:txBody>
      </p:sp>
      <p:cxnSp>
        <p:nvCxnSpPr>
          <p:cNvPr id="68" name="Connector 67"/>
          <p:cNvCxnSpPr/>
          <p:nvPr/>
        </p:nvCxnSpPr>
        <p:spPr>
          <a:xfrm>
            <a:off x="502920" y="6510528"/>
            <a:ext cx="11183112" cy="0"/>
          </a:xfrm>
          <a:prstGeom prst="line">
            <a:avLst/>
          </a:prstGeom>
          <a:ln w="10160">
            <a:solidFill>
              <a:srgbClr val="D6EF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9" name="TextBox 68"/>
          <p:cNvSpPr txBox="1"/>
          <p:nvPr/>
        </p:nvSpPr>
        <p:spPr>
          <a:xfrm>
            <a:off x="530352" y="6547104"/>
            <a:ext cx="4937760" cy="16459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800" b="0">
                <a:solidFill>
                  <a:srgbClr val="7894A6"/>
                </a:solidFill>
                <a:latin typeface="Microsoft YaHei"/>
              </a:rPr>
              <a:t>青禾门诊 · 智能问诊 · 教学参考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11201400" y="6528816"/>
            <a:ext cx="438912" cy="18288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r">
              <a:lnSpc>
                <a:spcPct val="105000"/>
              </a:lnSpc>
            </a:pPr>
            <a:r>
              <a:rPr sz="900" b="1">
                <a:solidFill>
                  <a:srgbClr val="087C92"/>
                </a:solidFill>
                <a:latin typeface="Microsoft YaHei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C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Heart 1"/>
          <p:cNvSpPr/>
          <p:nvPr/>
        </p:nvSpPr>
        <p:spPr>
          <a:xfrm>
            <a:off x="347472" y="210312"/>
            <a:ext cx="292608" cy="292608"/>
          </a:xfrm>
          <a:prstGeom prst="heart">
            <a:avLst/>
          </a:prstGeom>
          <a:solidFill>
            <a:srgbClr val="12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164592"/>
            <a:ext cx="1645920" cy="30175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300" b="1">
                <a:solidFill>
                  <a:srgbClr val="087C92"/>
                </a:solidFill>
                <a:latin typeface="Microsoft YaHei"/>
              </a:rPr>
              <a:t>青禾门诊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76072" y="713232"/>
            <a:ext cx="2926080" cy="22860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1">
                <a:solidFill>
                  <a:srgbClr val="12B8A6"/>
                </a:solidFill>
                <a:latin typeface="Microsoft YaHei"/>
              </a:rPr>
              <a:t>06  CORE FLOW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941832"/>
            <a:ext cx="10698480" cy="56692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2700" b="1">
                <a:solidFill>
                  <a:srgbClr val="163B5C"/>
                </a:solidFill>
                <a:latin typeface="Microsoft YaHei"/>
              </a:rPr>
              <a:t>主链路：LLM → RAG → 生成 → 门禁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85216" y="1490472"/>
            <a:ext cx="10607040" cy="31089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0">
                <a:solidFill>
                  <a:srgbClr val="7894A6"/>
                </a:solidFill>
                <a:latin typeface="Microsoft YaHei"/>
              </a:rPr>
              <a:t>串行而非三路并行；门禁是输出前不可绕过的最后一道质检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2331720"/>
            <a:ext cx="1627632" cy="197510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87C9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658368" y="2487168"/>
            <a:ext cx="384048" cy="384048"/>
          </a:xfrm>
          <a:prstGeom prst="ellipse">
            <a:avLst/>
          </a:prstGeom>
          <a:solidFill>
            <a:srgbClr val="087C92"/>
          </a:solidFill>
          <a:ln w="12700">
            <a:solidFill>
              <a:srgbClr val="087C9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8368" y="2487168"/>
            <a:ext cx="384048" cy="384048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lnSpc>
                <a:spcPct val="105000"/>
              </a:lnSpc>
            </a:pPr>
            <a:r>
              <a:rPr sz="900" b="1">
                <a:solidFill>
                  <a:srgbClr val="FFFFFF"/>
                </a:solidFill>
                <a:latin typeface="Microsoft YaHei"/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67512" y="2971800"/>
            <a:ext cx="1298448" cy="34747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lnSpc>
                <a:spcPct val="105000"/>
              </a:lnSpc>
            </a:pPr>
            <a:r>
              <a:rPr sz="1500" b="1">
                <a:solidFill>
                  <a:srgbClr val="163B5C"/>
                </a:solidFill>
                <a:latin typeface="Microsoft YaHei"/>
              </a:rPr>
              <a:t>用户输入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7512" y="3456432"/>
            <a:ext cx="1298448" cy="603504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000" b="0">
                <a:solidFill>
                  <a:srgbClr val="45677D"/>
                </a:solidFill>
                <a:latin typeface="Microsoft YaHei"/>
              </a:rPr>
              <a:t>症状 / 时长 / 发热
+ 可选就诊卡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2148840" y="3310128"/>
            <a:ext cx="219456" cy="0"/>
          </a:xfrm>
          <a:prstGeom prst="line">
            <a:avLst/>
          </a:prstGeom>
          <a:ln w="25400">
            <a:solidFill>
              <a:srgbClr val="087C9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2441448" y="2331720"/>
            <a:ext cx="1627632" cy="197510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3F72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2596896" y="2487168"/>
            <a:ext cx="384048" cy="384048"/>
          </a:xfrm>
          <a:prstGeom prst="ellipse">
            <a:avLst/>
          </a:prstGeom>
          <a:solidFill>
            <a:srgbClr val="3F72BE"/>
          </a:solidFill>
          <a:ln w="12700">
            <a:solidFill>
              <a:srgbClr val="3F72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596896" y="2487168"/>
            <a:ext cx="384048" cy="384048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lnSpc>
                <a:spcPct val="105000"/>
              </a:lnSpc>
            </a:pPr>
            <a:r>
              <a:rPr sz="900" b="1">
                <a:solidFill>
                  <a:srgbClr val="FFFFFF"/>
                </a:solidFill>
                <a:latin typeface="Microsoft YaHei"/>
              </a:rPr>
              <a:t>02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606040" y="2971800"/>
            <a:ext cx="1298448" cy="34747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lnSpc>
                <a:spcPct val="105000"/>
              </a:lnSpc>
            </a:pPr>
            <a:r>
              <a:rPr sz="1500" b="1">
                <a:solidFill>
                  <a:srgbClr val="163B5C"/>
                </a:solidFill>
                <a:latin typeface="Microsoft YaHei"/>
              </a:rPr>
              <a:t>LLM 理解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606040" y="3456432"/>
            <a:ext cx="1298448" cy="603504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000" b="0">
                <a:solidFill>
                  <a:srgbClr val="45677D"/>
                </a:solidFill>
                <a:latin typeface="Microsoft YaHei"/>
              </a:rPr>
              <a:t>决定追问或作答
保持同一会话上下文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4087368" y="3310128"/>
            <a:ext cx="219456" cy="0"/>
          </a:xfrm>
          <a:prstGeom prst="line">
            <a:avLst/>
          </a:prstGeom>
          <a:ln w="25400">
            <a:solidFill>
              <a:srgbClr val="3F72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4379976" y="2331720"/>
            <a:ext cx="1627632" cy="197510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7763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4535424" y="2487168"/>
            <a:ext cx="384048" cy="384048"/>
          </a:xfrm>
          <a:prstGeom prst="ellipse">
            <a:avLst/>
          </a:prstGeom>
          <a:solidFill>
            <a:srgbClr val="7763CD"/>
          </a:solidFill>
          <a:ln w="12700">
            <a:solidFill>
              <a:srgbClr val="7763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535424" y="2487168"/>
            <a:ext cx="384048" cy="384048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lnSpc>
                <a:spcPct val="105000"/>
              </a:lnSpc>
            </a:pPr>
            <a:r>
              <a:rPr sz="900" b="1">
                <a:solidFill>
                  <a:srgbClr val="FFFFFF"/>
                </a:solidFill>
                <a:latin typeface="Microsoft YaHei"/>
              </a:rPr>
              <a:t>03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44568" y="2971800"/>
            <a:ext cx="1298448" cy="34747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lnSpc>
                <a:spcPct val="105000"/>
              </a:lnSpc>
            </a:pPr>
            <a:r>
              <a:rPr sz="1500" b="1">
                <a:solidFill>
                  <a:srgbClr val="163B5C"/>
                </a:solidFill>
                <a:latin typeface="Microsoft YaHei"/>
              </a:rPr>
              <a:t>RAG 工具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44568" y="3456432"/>
            <a:ext cx="1298448" cy="603504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000" b="0">
                <a:solidFill>
                  <a:srgbClr val="45677D"/>
                </a:solidFill>
                <a:latin typeface="Microsoft YaHei"/>
              </a:rPr>
              <a:t>向量 + 关键词 + 图谱
融合相关资料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6025896" y="3310128"/>
            <a:ext cx="219456" cy="0"/>
          </a:xfrm>
          <a:prstGeom prst="line">
            <a:avLst/>
          </a:prstGeom>
          <a:ln w="25400">
            <a:solidFill>
              <a:srgbClr val="7763C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ounded Rectangle 24"/>
          <p:cNvSpPr/>
          <p:nvPr/>
        </p:nvSpPr>
        <p:spPr>
          <a:xfrm>
            <a:off x="6318504" y="2331720"/>
            <a:ext cx="1627632" cy="197510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792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6473952" y="2487168"/>
            <a:ext cx="384048" cy="384048"/>
          </a:xfrm>
          <a:prstGeom prst="ellipse">
            <a:avLst/>
          </a:prstGeom>
          <a:solidFill>
            <a:srgbClr val="E79248"/>
          </a:solidFill>
          <a:ln w="12700">
            <a:solidFill>
              <a:srgbClr val="E792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473952" y="2487168"/>
            <a:ext cx="384048" cy="384048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lnSpc>
                <a:spcPct val="105000"/>
              </a:lnSpc>
            </a:pPr>
            <a:r>
              <a:rPr sz="900" b="1">
                <a:solidFill>
                  <a:srgbClr val="FFFFFF"/>
                </a:solidFill>
                <a:latin typeface="Microsoft YaHei"/>
              </a:rPr>
              <a:t>04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83096" y="2971800"/>
            <a:ext cx="1298448" cy="34747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lnSpc>
                <a:spcPct val="105000"/>
              </a:lnSpc>
            </a:pPr>
            <a:r>
              <a:rPr sz="1500" b="1">
                <a:solidFill>
                  <a:srgbClr val="163B5C"/>
                </a:solidFill>
                <a:latin typeface="Microsoft YaHei"/>
              </a:rPr>
              <a:t>LLM 草稿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83096" y="3456432"/>
            <a:ext cx="1298448" cy="603504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000" b="0">
                <a:solidFill>
                  <a:srgbClr val="45677D"/>
                </a:solidFill>
                <a:latin typeface="Microsoft YaHei"/>
              </a:rPr>
              <a:t>诊断参考 / 处理建议
拟推荐药品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7964424" y="3310128"/>
            <a:ext cx="219455" cy="0"/>
          </a:xfrm>
          <a:prstGeom prst="line">
            <a:avLst/>
          </a:prstGeom>
          <a:ln w="25400">
            <a:solidFill>
              <a:srgbClr val="E7924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Rounded Rectangle 30"/>
          <p:cNvSpPr/>
          <p:nvPr/>
        </p:nvSpPr>
        <p:spPr>
          <a:xfrm>
            <a:off x="8257032" y="2331720"/>
            <a:ext cx="1627632" cy="197510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D45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8412480" y="2487168"/>
            <a:ext cx="384048" cy="384048"/>
          </a:xfrm>
          <a:prstGeom prst="ellipse">
            <a:avLst/>
          </a:prstGeom>
          <a:solidFill>
            <a:srgbClr val="CD4554"/>
          </a:solidFill>
          <a:ln w="12700">
            <a:solidFill>
              <a:srgbClr val="CD45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412480" y="2487168"/>
            <a:ext cx="384048" cy="384048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lnSpc>
                <a:spcPct val="105000"/>
              </a:lnSpc>
            </a:pPr>
            <a:r>
              <a:rPr sz="900" b="1">
                <a:solidFill>
                  <a:srgbClr val="FFFFFF"/>
                </a:solidFill>
                <a:latin typeface="Microsoft YaHei"/>
              </a:rPr>
              <a:t>05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421624" y="2971800"/>
            <a:ext cx="1298448" cy="34747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lnSpc>
                <a:spcPct val="105000"/>
              </a:lnSpc>
            </a:pPr>
            <a:r>
              <a:rPr sz="1500" b="1">
                <a:solidFill>
                  <a:srgbClr val="163B5C"/>
                </a:solidFill>
                <a:latin typeface="Microsoft YaHei"/>
              </a:rPr>
              <a:t>Java 门禁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421624" y="3456432"/>
            <a:ext cx="1298448" cy="603504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000" b="0">
                <a:solidFill>
                  <a:srgbClr val="45677D"/>
                </a:solidFill>
                <a:latin typeface="Microsoft YaHei"/>
              </a:rPr>
              <a:t>红旗？白名单？
表述是否安全？</a:t>
            </a:r>
          </a:p>
        </p:txBody>
      </p:sp>
      <p:cxnSp>
        <p:nvCxnSpPr>
          <p:cNvPr id="36" name="Connector 35"/>
          <p:cNvCxnSpPr/>
          <p:nvPr/>
        </p:nvCxnSpPr>
        <p:spPr>
          <a:xfrm>
            <a:off x="9902952" y="3310128"/>
            <a:ext cx="219456" cy="0"/>
          </a:xfrm>
          <a:prstGeom prst="line">
            <a:avLst/>
          </a:prstGeom>
          <a:ln w="25400">
            <a:solidFill>
              <a:srgbClr val="CD455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Rounded Rectangle 36"/>
          <p:cNvSpPr/>
          <p:nvPr/>
        </p:nvSpPr>
        <p:spPr>
          <a:xfrm>
            <a:off x="10195560" y="2331720"/>
            <a:ext cx="1627632" cy="197510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2B99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10351008" y="2487168"/>
            <a:ext cx="384048" cy="384048"/>
          </a:xfrm>
          <a:prstGeom prst="ellipse">
            <a:avLst/>
          </a:prstGeom>
          <a:solidFill>
            <a:srgbClr val="2B997A"/>
          </a:solidFill>
          <a:ln w="12700">
            <a:solidFill>
              <a:srgbClr val="2B99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0351008" y="2487168"/>
            <a:ext cx="384048" cy="384048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lnSpc>
                <a:spcPct val="105000"/>
              </a:lnSpc>
            </a:pPr>
            <a:r>
              <a:rPr sz="900" b="1">
                <a:solidFill>
                  <a:srgbClr val="FFFFFF"/>
                </a:solidFill>
                <a:latin typeface="Microsoft YaHei"/>
              </a:rPr>
              <a:t>06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360152" y="2971800"/>
            <a:ext cx="1298448" cy="34747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lnSpc>
                <a:spcPct val="105000"/>
              </a:lnSpc>
            </a:pPr>
            <a:r>
              <a:rPr sz="1500" b="1">
                <a:solidFill>
                  <a:srgbClr val="163B5C"/>
                </a:solidFill>
                <a:latin typeface="Microsoft YaHei"/>
              </a:rPr>
              <a:t>结构化卡片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360152" y="3456432"/>
            <a:ext cx="1298448" cy="603504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000" b="0">
                <a:solidFill>
                  <a:srgbClr val="45677D"/>
                </a:solidFill>
                <a:latin typeface="Microsoft YaHei"/>
              </a:rPr>
              <a:t>通过则返回
不通过改写就医建议</a:t>
            </a:r>
          </a:p>
        </p:txBody>
      </p:sp>
      <p:cxnSp>
        <p:nvCxnSpPr>
          <p:cNvPr id="42" name="Connector 41"/>
          <p:cNvCxnSpPr/>
          <p:nvPr/>
        </p:nvCxnSpPr>
        <p:spPr>
          <a:xfrm>
            <a:off x="9089136" y="4315968"/>
            <a:ext cx="0" cy="420624"/>
          </a:xfrm>
          <a:prstGeom prst="line">
            <a:avLst/>
          </a:prstGeom>
          <a:ln w="22860">
            <a:solidFill>
              <a:srgbClr val="CD455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" name="Rounded Rectangle 42"/>
          <p:cNvSpPr/>
          <p:nvPr/>
        </p:nvSpPr>
        <p:spPr>
          <a:xfrm>
            <a:off x="6931152" y="4754880"/>
            <a:ext cx="4343400" cy="713232"/>
          </a:xfrm>
          <a:prstGeom prst="roundRect">
            <a:avLst/>
          </a:prstGeom>
          <a:solidFill>
            <a:srgbClr val="FFF4F5"/>
          </a:solidFill>
          <a:ln w="12700">
            <a:solidFill>
              <a:srgbClr val="F4C7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7150608" y="4754880"/>
            <a:ext cx="3886200" cy="71323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lnSpc>
                <a:spcPct val="105000"/>
              </a:lnSpc>
            </a:pPr>
            <a:r>
              <a:rPr sz="1200" b="1">
                <a:solidFill>
                  <a:srgbClr val="CD4554"/>
                </a:solidFill>
                <a:latin typeface="Microsoft YaHei"/>
              </a:rPr>
              <a:t>红旗命中：不诊断、不开药，只导向急诊 / 120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502920" y="4974336"/>
            <a:ext cx="5989320" cy="841248"/>
          </a:xfrm>
          <a:prstGeom prst="roundRect">
            <a:avLst/>
          </a:prstGeom>
          <a:solidFill>
            <a:srgbClr val="EAFBFA"/>
          </a:solidFill>
          <a:ln w="12700">
            <a:solidFill>
              <a:srgbClr val="BFE8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758952" y="5138928"/>
            <a:ext cx="914400" cy="25603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200" b="1">
                <a:solidFill>
                  <a:srgbClr val="087C92"/>
                </a:solidFill>
                <a:latin typeface="Microsoft YaHei"/>
              </a:rPr>
              <a:t>优雅降级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755648" y="5074920"/>
            <a:ext cx="4434840" cy="41148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>
                <a:solidFill>
                  <a:srgbClr val="45677D"/>
                </a:solidFill>
                <a:latin typeface="Microsoft YaHei"/>
              </a:rPr>
              <a:t>向量/图谱可缺席 → 关键词/MySQL 兜底；系统变笨，但不能变危险</a:t>
            </a:r>
          </a:p>
        </p:txBody>
      </p:sp>
      <p:cxnSp>
        <p:nvCxnSpPr>
          <p:cNvPr id="48" name="Connector 47"/>
          <p:cNvCxnSpPr/>
          <p:nvPr/>
        </p:nvCxnSpPr>
        <p:spPr>
          <a:xfrm>
            <a:off x="502920" y="6510528"/>
            <a:ext cx="11183112" cy="0"/>
          </a:xfrm>
          <a:prstGeom prst="line">
            <a:avLst/>
          </a:prstGeom>
          <a:ln w="10160">
            <a:solidFill>
              <a:srgbClr val="D6EF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9" name="TextBox 48"/>
          <p:cNvSpPr txBox="1"/>
          <p:nvPr/>
        </p:nvSpPr>
        <p:spPr>
          <a:xfrm>
            <a:off x="530352" y="6547104"/>
            <a:ext cx="4937760" cy="16459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800" b="0">
                <a:solidFill>
                  <a:srgbClr val="7894A6"/>
                </a:solidFill>
                <a:latin typeface="Microsoft YaHei"/>
              </a:rPr>
              <a:t>青禾门诊 · 智能问诊 · 教学参考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1201400" y="6528816"/>
            <a:ext cx="438912" cy="18288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r">
              <a:lnSpc>
                <a:spcPct val="105000"/>
              </a:lnSpc>
            </a:pPr>
            <a:r>
              <a:rPr sz="900" b="1">
                <a:solidFill>
                  <a:srgbClr val="087C92"/>
                </a:solidFill>
                <a:latin typeface="Microsoft YaHei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C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Heart 1"/>
          <p:cNvSpPr/>
          <p:nvPr/>
        </p:nvSpPr>
        <p:spPr>
          <a:xfrm>
            <a:off x="347472" y="210312"/>
            <a:ext cx="292608" cy="292608"/>
          </a:xfrm>
          <a:prstGeom prst="heart">
            <a:avLst/>
          </a:prstGeom>
          <a:solidFill>
            <a:srgbClr val="12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164592"/>
            <a:ext cx="1645920" cy="30175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300" b="1">
                <a:solidFill>
                  <a:srgbClr val="087C92"/>
                </a:solidFill>
                <a:latin typeface="Microsoft YaHei"/>
              </a:rPr>
              <a:t>青禾门诊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76072" y="713232"/>
            <a:ext cx="2926080" cy="22860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1">
                <a:solidFill>
                  <a:srgbClr val="12B8A6"/>
                </a:solidFill>
                <a:latin typeface="Microsoft YaHei"/>
              </a:rPr>
              <a:t>07  DEMO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941832"/>
            <a:ext cx="10698480" cy="56692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2700" b="1">
                <a:solidFill>
                  <a:srgbClr val="163B5C"/>
                </a:solidFill>
                <a:latin typeface="Microsoft YaHei"/>
              </a:rPr>
              <a:t>功能演示：从问诊到档案与知识沉淀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85216" y="1490472"/>
            <a:ext cx="10607040" cy="31089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0">
                <a:solidFill>
                  <a:srgbClr val="7894A6"/>
                </a:solidFill>
                <a:latin typeface="Microsoft YaHei"/>
              </a:rPr>
              <a:t>建议现场依次演示普通问诊 → 红旗 → 否定纠错 → 就诊卡 → 知识库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901952"/>
            <a:ext cx="5623560" cy="422452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EF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问诊界面.png"/>
          <p:cNvPicPr>
            <a:picLocks noChangeAspect="1"/>
          </p:cNvPicPr>
          <p:nvPr/>
        </p:nvPicPr>
        <p:blipFill>
          <a:blip r:embed="rId2"/>
          <a:srcRect l="6427" r="6427"/>
          <a:stretch>
            <a:fillRect/>
          </a:stretch>
        </p:blipFill>
        <p:spPr>
          <a:xfrm>
            <a:off x="576072" y="1975104"/>
            <a:ext cx="5477256" cy="3657600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649224" y="5715000"/>
            <a:ext cx="5330952" cy="329184"/>
          </a:xfrm>
          <a:prstGeom prst="roundRect">
            <a:avLst/>
          </a:prstGeom>
          <a:solidFill>
            <a:srgbClr val="EAFBFA"/>
          </a:solidFill>
          <a:ln w="12700">
            <a:solidFill>
              <a:srgbClr val="EAFB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9224" y="5715000"/>
            <a:ext cx="5330952" cy="329184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lnSpc>
                <a:spcPct val="105000"/>
              </a:lnSpc>
            </a:pPr>
            <a:r>
              <a:rPr sz="1000" b="1">
                <a:solidFill>
                  <a:srgbClr val="087C92"/>
                </a:solidFill>
                <a:latin typeface="Microsoft YaHei"/>
              </a:rPr>
              <a:t>① 问诊主界面 + 历史侧栏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27648" y="1901952"/>
            <a:ext cx="5330952" cy="138988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EF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c__Users_____AppData_Roaming_Cursor_User_workspaceStorage_eb80d56d9d0cf8300e47dabaf73dfb88_images_image-6c300e95-9abc-4092-9f18-04d83476bcee.png"/>
          <p:cNvPicPr>
            <a:picLocks noChangeAspect="1"/>
          </p:cNvPicPr>
          <p:nvPr/>
        </p:nvPicPr>
        <p:blipFill>
          <a:blip r:embed="rId3"/>
          <a:srcRect t="20231" b="20231"/>
          <a:stretch>
            <a:fillRect/>
          </a:stretch>
        </p:blipFill>
        <p:spPr>
          <a:xfrm>
            <a:off x="6400800" y="1975104"/>
            <a:ext cx="5184648" cy="822960"/>
          </a:xfrm>
          <a:prstGeom prst="rect">
            <a:avLst/>
          </a:prstGeom>
        </p:spPr>
      </p:pic>
      <p:sp>
        <p:nvSpPr>
          <p:cNvPr id="13" name="Rounded Rectangle 12"/>
          <p:cNvSpPr/>
          <p:nvPr/>
        </p:nvSpPr>
        <p:spPr>
          <a:xfrm>
            <a:off x="6473952" y="2880360"/>
            <a:ext cx="5038344" cy="329184"/>
          </a:xfrm>
          <a:prstGeom prst="roundRect">
            <a:avLst/>
          </a:prstGeom>
          <a:solidFill>
            <a:srgbClr val="EAFBFA"/>
          </a:solidFill>
          <a:ln w="12700">
            <a:solidFill>
              <a:srgbClr val="EAFB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73952" y="2880360"/>
            <a:ext cx="5038344" cy="329184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lnSpc>
                <a:spcPct val="105000"/>
              </a:lnSpc>
            </a:pPr>
            <a:r>
              <a:rPr sz="1000" b="1">
                <a:solidFill>
                  <a:srgbClr val="CD4554"/>
                </a:solidFill>
                <a:latin typeface="Microsoft YaHei"/>
              </a:rPr>
              <a:t>② 红旗只导向急诊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327648" y="3502152"/>
            <a:ext cx="2551176" cy="262432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EF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6" name="Picture 15" descr="就诊卡界面.jpg"/>
          <p:cNvPicPr>
            <a:picLocks noChangeAspect="1"/>
          </p:cNvPicPr>
          <p:nvPr/>
        </p:nvPicPr>
        <p:blipFill>
          <a:blip r:embed="rId4"/>
          <a:srcRect l="10219" r="10219"/>
          <a:stretch>
            <a:fillRect/>
          </a:stretch>
        </p:blipFill>
        <p:spPr>
          <a:xfrm>
            <a:off x="6400800" y="3575304"/>
            <a:ext cx="2404872" cy="2057400"/>
          </a:xfrm>
          <a:prstGeom prst="rect">
            <a:avLst/>
          </a:prstGeom>
        </p:spPr>
      </p:pic>
      <p:sp>
        <p:nvSpPr>
          <p:cNvPr id="17" name="Rounded Rectangle 16"/>
          <p:cNvSpPr/>
          <p:nvPr/>
        </p:nvSpPr>
        <p:spPr>
          <a:xfrm>
            <a:off x="6473952" y="5715000"/>
            <a:ext cx="2258568" cy="329184"/>
          </a:xfrm>
          <a:prstGeom prst="roundRect">
            <a:avLst/>
          </a:prstGeom>
          <a:solidFill>
            <a:srgbClr val="EAFBFA"/>
          </a:solidFill>
          <a:ln w="12700">
            <a:solidFill>
              <a:srgbClr val="EAFB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73952" y="5715000"/>
            <a:ext cx="2258568" cy="329184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lnSpc>
                <a:spcPct val="105000"/>
              </a:lnSpc>
            </a:pPr>
            <a:r>
              <a:rPr sz="1000" b="1">
                <a:solidFill>
                  <a:srgbClr val="3F72BE"/>
                </a:solidFill>
                <a:latin typeface="Microsoft YaHei"/>
              </a:rPr>
              <a:t>③ 多就诊卡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107424" y="3502152"/>
            <a:ext cx="2551176" cy="262432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EF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0" name="Picture 19" descr="知识库界面.jpg"/>
          <p:cNvPicPr>
            <a:picLocks noChangeAspect="1"/>
          </p:cNvPicPr>
          <p:nvPr/>
        </p:nvPicPr>
        <p:blipFill>
          <a:blip r:embed="rId5"/>
          <a:srcRect t="20262" b="20262"/>
          <a:stretch>
            <a:fillRect/>
          </a:stretch>
        </p:blipFill>
        <p:spPr>
          <a:xfrm>
            <a:off x="9180576" y="3575304"/>
            <a:ext cx="2404872" cy="2057400"/>
          </a:xfrm>
          <a:prstGeom prst="rect">
            <a:avLst/>
          </a:prstGeom>
        </p:spPr>
      </p:pic>
      <p:sp>
        <p:nvSpPr>
          <p:cNvPr id="21" name="Rounded Rectangle 20"/>
          <p:cNvSpPr/>
          <p:nvPr/>
        </p:nvSpPr>
        <p:spPr>
          <a:xfrm>
            <a:off x="9253728" y="5715000"/>
            <a:ext cx="2258568" cy="329184"/>
          </a:xfrm>
          <a:prstGeom prst="roundRect">
            <a:avLst/>
          </a:prstGeom>
          <a:solidFill>
            <a:srgbClr val="EAFBFA"/>
          </a:solidFill>
          <a:ln w="12700">
            <a:solidFill>
              <a:srgbClr val="EAFB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253728" y="5715000"/>
            <a:ext cx="2258568" cy="329184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lnSpc>
                <a:spcPct val="105000"/>
              </a:lnSpc>
            </a:pPr>
            <a:r>
              <a:rPr sz="1000" b="1">
                <a:solidFill>
                  <a:srgbClr val="2B997A"/>
                </a:solidFill>
                <a:latin typeface="Microsoft YaHei"/>
              </a:rPr>
              <a:t>④ 知识库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502920" y="6510528"/>
            <a:ext cx="11183112" cy="0"/>
          </a:xfrm>
          <a:prstGeom prst="line">
            <a:avLst/>
          </a:prstGeom>
          <a:ln w="10160">
            <a:solidFill>
              <a:srgbClr val="D6EF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530352" y="6547104"/>
            <a:ext cx="4937760" cy="16459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800" b="0">
                <a:solidFill>
                  <a:srgbClr val="7894A6"/>
                </a:solidFill>
                <a:latin typeface="Microsoft YaHei"/>
              </a:rPr>
              <a:t>青禾门诊 · 智能问诊 · 教学参考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201400" y="6528816"/>
            <a:ext cx="438912" cy="18288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r">
              <a:lnSpc>
                <a:spcPct val="105000"/>
              </a:lnSpc>
            </a:pPr>
            <a:r>
              <a:rPr sz="900" b="1">
                <a:solidFill>
                  <a:srgbClr val="087C92"/>
                </a:solidFill>
                <a:latin typeface="Microsoft YaHei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C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Heart 1"/>
          <p:cNvSpPr/>
          <p:nvPr/>
        </p:nvSpPr>
        <p:spPr>
          <a:xfrm>
            <a:off x="347472" y="210312"/>
            <a:ext cx="292608" cy="292608"/>
          </a:xfrm>
          <a:prstGeom prst="heart">
            <a:avLst/>
          </a:prstGeom>
          <a:solidFill>
            <a:srgbClr val="12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164592"/>
            <a:ext cx="1645920" cy="30175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300" b="1">
                <a:solidFill>
                  <a:srgbClr val="087C92"/>
                </a:solidFill>
                <a:latin typeface="Microsoft YaHei"/>
              </a:rPr>
              <a:t>青禾门诊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76072" y="713232"/>
            <a:ext cx="2926080" cy="22860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1">
                <a:solidFill>
                  <a:srgbClr val="12B8A6"/>
                </a:solidFill>
                <a:latin typeface="Microsoft YaHei"/>
              </a:rPr>
              <a:t>08  QUALITY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941832"/>
            <a:ext cx="10698480" cy="56692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2700" b="1">
                <a:solidFill>
                  <a:srgbClr val="163B5C"/>
                </a:solidFill>
                <a:latin typeface="Microsoft YaHei"/>
              </a:rPr>
              <a:t>安全与测试：模型负责表达，规则负责底线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85216" y="1490472"/>
            <a:ext cx="10607040" cy="31089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0">
                <a:solidFill>
                  <a:srgbClr val="7894A6"/>
                </a:solidFill>
                <a:latin typeface="Microsoft YaHei"/>
              </a:rPr>
              <a:t>自动化 + 场景演示 + 缺陷回归三层覆盖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4360" y="1901952"/>
            <a:ext cx="3401568" cy="135331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D45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Pentagon 7"/>
          <p:cNvSpPr/>
          <p:nvPr/>
        </p:nvSpPr>
        <p:spPr>
          <a:xfrm>
            <a:off x="795528" y="2148840"/>
            <a:ext cx="585216" cy="640080"/>
          </a:xfrm>
          <a:prstGeom prst="homePlate">
            <a:avLst/>
          </a:prstGeom>
          <a:solidFill>
            <a:srgbClr val="CD4554"/>
          </a:solidFill>
          <a:ln w="12700">
            <a:solidFill>
              <a:srgbClr val="CD45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527048" y="2039112"/>
            <a:ext cx="2103120" cy="292608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1">
                <a:solidFill>
                  <a:srgbClr val="163B5C"/>
                </a:solidFill>
                <a:latin typeface="Microsoft YaHei"/>
              </a:rPr>
              <a:t>红旗门禁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27048" y="2432304"/>
            <a:ext cx="2121408" cy="53035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>
                <a:solidFill>
                  <a:srgbClr val="45677D"/>
                </a:solidFill>
                <a:latin typeface="Microsoft YaHei"/>
              </a:rPr>
              <a:t>胸痛、大出血、意识异常等
仅给急诊建议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61688" y="1901952"/>
            <a:ext cx="3401568" cy="135331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2B99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Pentagon 11"/>
          <p:cNvSpPr/>
          <p:nvPr/>
        </p:nvSpPr>
        <p:spPr>
          <a:xfrm>
            <a:off x="4562856" y="2148840"/>
            <a:ext cx="585216" cy="640080"/>
          </a:xfrm>
          <a:prstGeom prst="homePlate">
            <a:avLst/>
          </a:prstGeom>
          <a:solidFill>
            <a:srgbClr val="2B997A"/>
          </a:solidFill>
          <a:ln w="12700">
            <a:solidFill>
              <a:srgbClr val="2B99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294376" y="2039112"/>
            <a:ext cx="2103120" cy="292608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1">
                <a:solidFill>
                  <a:srgbClr val="163B5C"/>
                </a:solidFill>
                <a:latin typeface="Microsoft YaHei"/>
              </a:rPr>
              <a:t>药品白名单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294376" y="2432304"/>
            <a:ext cx="2121408" cy="53035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>
                <a:solidFill>
                  <a:srgbClr val="45677D"/>
                </a:solidFill>
                <a:latin typeface="Microsoft YaHei"/>
              </a:rPr>
              <a:t>模型草稿中的药品必须命中
库内条目才能展示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129016" y="1901952"/>
            <a:ext cx="3401568" cy="135331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3F72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Pentagon 15"/>
          <p:cNvSpPr/>
          <p:nvPr/>
        </p:nvSpPr>
        <p:spPr>
          <a:xfrm>
            <a:off x="8330184" y="2148840"/>
            <a:ext cx="585216" cy="640080"/>
          </a:xfrm>
          <a:prstGeom prst="homePlate">
            <a:avLst/>
          </a:prstGeom>
          <a:solidFill>
            <a:srgbClr val="3F72BE"/>
          </a:solidFill>
          <a:ln w="12700">
            <a:solidFill>
              <a:srgbClr val="3F72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061704" y="2039112"/>
            <a:ext cx="2103120" cy="292608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1">
                <a:solidFill>
                  <a:srgbClr val="163B5C"/>
                </a:solidFill>
                <a:latin typeface="Microsoft YaHei"/>
              </a:rPr>
              <a:t>否定语处理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061704" y="2432304"/>
            <a:ext cx="2121408" cy="53035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>
                <a:solidFill>
                  <a:srgbClr val="45677D"/>
                </a:solidFill>
                <a:latin typeface="Microsoft YaHei"/>
              </a:rPr>
              <a:t>“胸口疼不存在了”可解除
避免反复错误拦截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94360" y="3584448"/>
            <a:ext cx="2286000" cy="1298448"/>
          </a:xfrm>
          <a:prstGeom prst="roundRect">
            <a:avLst/>
          </a:prstGeom>
          <a:solidFill>
            <a:srgbClr val="EAFBFA"/>
          </a:solidFill>
          <a:ln w="12700">
            <a:solidFill>
              <a:srgbClr val="BFE8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58952" y="3703320"/>
            <a:ext cx="658368" cy="50292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lnSpc>
                <a:spcPct val="105000"/>
              </a:lnSpc>
            </a:pPr>
            <a:r>
              <a:rPr sz="2800" b="1">
                <a:solidFill>
                  <a:srgbClr val="087C92"/>
                </a:solidFill>
                <a:latin typeface="Microsoft YaHei"/>
              </a:rPr>
              <a:t>11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453895" y="3712463"/>
            <a:ext cx="1207008" cy="27432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200" b="1">
                <a:solidFill>
                  <a:srgbClr val="163B5C"/>
                </a:solidFill>
                <a:latin typeface="Microsoft YaHei"/>
              </a:rPr>
              <a:t>类自动化测试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53895" y="4096512"/>
            <a:ext cx="1188720" cy="292608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950" b="0">
                <a:solidFill>
                  <a:srgbClr val="7894A6"/>
                </a:solidFill>
                <a:latin typeface="Microsoft YaHei"/>
              </a:rPr>
              <a:t>领域规则 + Spring 流程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3108960" y="3584448"/>
            <a:ext cx="2286000" cy="1298448"/>
          </a:xfrm>
          <a:prstGeom prst="roundRect">
            <a:avLst/>
          </a:prstGeom>
          <a:solidFill>
            <a:srgbClr val="EAFBFA"/>
          </a:solidFill>
          <a:ln w="12700">
            <a:solidFill>
              <a:srgbClr val="BFE8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273552" y="3703320"/>
            <a:ext cx="658368" cy="50292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lnSpc>
                <a:spcPct val="105000"/>
              </a:lnSpc>
            </a:pPr>
            <a:r>
              <a:rPr sz="2800" b="1">
                <a:solidFill>
                  <a:srgbClr val="087C92"/>
                </a:solidFill>
                <a:latin typeface="Microsoft YaHei"/>
              </a:rPr>
              <a:t>9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968496" y="3712463"/>
            <a:ext cx="1207008" cy="27432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200" b="1">
                <a:solidFill>
                  <a:srgbClr val="163B5C"/>
                </a:solidFill>
                <a:latin typeface="Microsoft YaHei"/>
              </a:rPr>
              <a:t>个场景用例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968496" y="4096512"/>
            <a:ext cx="1188720" cy="292608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950" b="0">
                <a:solidFill>
                  <a:srgbClr val="7894A6"/>
                </a:solidFill>
                <a:latin typeface="Microsoft YaHei"/>
              </a:rPr>
              <a:t>正常 / 安全 / 异常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623560" y="3584448"/>
            <a:ext cx="2286000" cy="1298448"/>
          </a:xfrm>
          <a:prstGeom prst="roundRect">
            <a:avLst/>
          </a:prstGeom>
          <a:solidFill>
            <a:srgbClr val="EAFBFA"/>
          </a:solidFill>
          <a:ln w="12700">
            <a:solidFill>
              <a:srgbClr val="BFE8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788152" y="3703320"/>
            <a:ext cx="658368" cy="50292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lnSpc>
                <a:spcPct val="105000"/>
              </a:lnSpc>
            </a:pPr>
            <a:r>
              <a:rPr sz="2800" b="1">
                <a:solidFill>
                  <a:srgbClr val="087C92"/>
                </a:solidFill>
                <a:latin typeface="Microsoft YaHei"/>
              </a:rPr>
              <a:t>3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83096" y="3712463"/>
            <a:ext cx="1207008" cy="27432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200" b="1">
                <a:solidFill>
                  <a:srgbClr val="163B5C"/>
                </a:solidFill>
                <a:latin typeface="Microsoft YaHei"/>
              </a:rPr>
              <a:t>个关键 Bug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83096" y="4096512"/>
            <a:ext cx="1188720" cy="292608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950" b="0">
                <a:solidFill>
                  <a:srgbClr val="7894A6"/>
                </a:solidFill>
                <a:latin typeface="Microsoft YaHei"/>
              </a:rPr>
              <a:t>均纳入回归设计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8211312" y="3584448"/>
            <a:ext cx="3383280" cy="2011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EF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458200" y="3794760"/>
            <a:ext cx="2560320" cy="27432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1">
                <a:solidFill>
                  <a:srgbClr val="163B5C"/>
                </a:solidFill>
                <a:latin typeface="Microsoft YaHei"/>
              </a:rPr>
              <a:t>验收中真实修复</a:t>
            </a:r>
          </a:p>
        </p:txBody>
      </p:sp>
      <p:sp>
        <p:nvSpPr>
          <p:cNvPr id="33" name="Oval 32"/>
          <p:cNvSpPr/>
          <p:nvPr/>
        </p:nvSpPr>
        <p:spPr>
          <a:xfrm>
            <a:off x="8458200" y="4343400"/>
            <a:ext cx="100584" cy="100584"/>
          </a:xfrm>
          <a:prstGeom prst="ellipse">
            <a:avLst/>
          </a:prstGeom>
          <a:solidFill>
            <a:srgbClr val="12B8A6"/>
          </a:solidFill>
          <a:ln w="12700">
            <a:solidFill>
              <a:srgbClr val="12B8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659368" y="4233672"/>
            <a:ext cx="2450591" cy="34747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>
                <a:solidFill>
                  <a:srgbClr val="45677D"/>
                </a:solidFill>
                <a:latin typeface="Microsoft YaHei"/>
              </a:rPr>
              <a:t>过期会话号 → 自动重建</a:t>
            </a:r>
          </a:p>
        </p:txBody>
      </p:sp>
      <p:sp>
        <p:nvSpPr>
          <p:cNvPr id="35" name="Oval 34"/>
          <p:cNvSpPr/>
          <p:nvPr/>
        </p:nvSpPr>
        <p:spPr>
          <a:xfrm>
            <a:off x="8458200" y="4727448"/>
            <a:ext cx="100584" cy="100584"/>
          </a:xfrm>
          <a:prstGeom prst="ellipse">
            <a:avLst/>
          </a:prstGeom>
          <a:solidFill>
            <a:srgbClr val="12B8A6"/>
          </a:solidFill>
          <a:ln w="12700">
            <a:solidFill>
              <a:srgbClr val="12B8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659368" y="4617720"/>
            <a:ext cx="2450591" cy="34747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>
                <a:solidFill>
                  <a:srgbClr val="45677D"/>
                </a:solidFill>
                <a:latin typeface="Microsoft YaHei"/>
              </a:rPr>
              <a:t>红旗否定失效 → 后置否定窗口</a:t>
            </a:r>
          </a:p>
        </p:txBody>
      </p:sp>
      <p:sp>
        <p:nvSpPr>
          <p:cNvPr id="37" name="Oval 36"/>
          <p:cNvSpPr/>
          <p:nvPr/>
        </p:nvSpPr>
        <p:spPr>
          <a:xfrm>
            <a:off x="8458200" y="5111496"/>
            <a:ext cx="100584" cy="100584"/>
          </a:xfrm>
          <a:prstGeom prst="ellipse">
            <a:avLst/>
          </a:prstGeom>
          <a:solidFill>
            <a:srgbClr val="12B8A6"/>
          </a:solidFill>
          <a:ln w="12700">
            <a:solidFill>
              <a:srgbClr val="12B8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659368" y="5001768"/>
            <a:ext cx="2450591" cy="34747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>
                <a:solidFill>
                  <a:srgbClr val="45677D"/>
                </a:solidFill>
                <a:latin typeface="Microsoft YaHei"/>
              </a:rPr>
              <a:t>多卡唯一索引 → 启动时修复 Schema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13232" y="5257800"/>
            <a:ext cx="6858000" cy="34747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1">
                <a:solidFill>
                  <a:srgbClr val="CD4554"/>
                </a:solidFill>
                <a:latin typeface="Microsoft YaHei"/>
              </a:rPr>
              <a:t>测试原则：变笨可以，变危险不行</a:t>
            </a:r>
          </a:p>
        </p:txBody>
      </p:sp>
      <p:cxnSp>
        <p:nvCxnSpPr>
          <p:cNvPr id="40" name="Connector 39"/>
          <p:cNvCxnSpPr/>
          <p:nvPr/>
        </p:nvCxnSpPr>
        <p:spPr>
          <a:xfrm>
            <a:off x="502920" y="6510528"/>
            <a:ext cx="11183112" cy="0"/>
          </a:xfrm>
          <a:prstGeom prst="line">
            <a:avLst/>
          </a:prstGeom>
          <a:ln w="10160">
            <a:solidFill>
              <a:srgbClr val="D6EF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TextBox 40"/>
          <p:cNvSpPr txBox="1"/>
          <p:nvPr/>
        </p:nvSpPr>
        <p:spPr>
          <a:xfrm>
            <a:off x="530352" y="6547104"/>
            <a:ext cx="4937760" cy="16459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800" b="0">
                <a:solidFill>
                  <a:srgbClr val="7894A6"/>
                </a:solidFill>
                <a:latin typeface="Microsoft YaHei"/>
              </a:rPr>
              <a:t>青禾门诊 · 智能问诊 · 教学参考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1201400" y="6528816"/>
            <a:ext cx="438912" cy="18288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r">
              <a:lnSpc>
                <a:spcPct val="105000"/>
              </a:lnSpc>
            </a:pPr>
            <a:r>
              <a:rPr sz="900" b="1">
                <a:solidFill>
                  <a:srgbClr val="087C92"/>
                </a:solidFill>
                <a:latin typeface="Microsoft YaHei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C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Heart 1"/>
          <p:cNvSpPr/>
          <p:nvPr/>
        </p:nvSpPr>
        <p:spPr>
          <a:xfrm>
            <a:off x="347472" y="210312"/>
            <a:ext cx="292608" cy="292608"/>
          </a:xfrm>
          <a:prstGeom prst="heart">
            <a:avLst/>
          </a:prstGeom>
          <a:solidFill>
            <a:srgbClr val="12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164592"/>
            <a:ext cx="1645920" cy="30175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300" b="1">
                <a:solidFill>
                  <a:srgbClr val="087C92"/>
                </a:solidFill>
                <a:latin typeface="Microsoft YaHei"/>
              </a:rPr>
              <a:t>青禾门诊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76072" y="713232"/>
            <a:ext cx="2926080" cy="22860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1">
                <a:solidFill>
                  <a:srgbClr val="12B8A6"/>
                </a:solidFill>
                <a:latin typeface="Microsoft YaHei"/>
              </a:rPr>
              <a:t>09  DELIVERY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941832"/>
            <a:ext cx="10698480" cy="56692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2700" b="1">
                <a:solidFill>
                  <a:srgbClr val="163B5C"/>
                </a:solidFill>
                <a:latin typeface="Microsoft YaHei"/>
              </a:rPr>
              <a:t>技术选型与小组分工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85216" y="1490472"/>
            <a:ext cx="10607040" cy="31089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0">
                <a:solidFill>
                  <a:srgbClr val="7894A6"/>
                </a:solidFill>
                <a:latin typeface="Microsoft YaHei"/>
              </a:rPr>
              <a:t>选型围绕可维护、可演示、可降级；成员姓名可直接在此页替换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4360" y="1874519"/>
            <a:ext cx="2514600" cy="1325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87C9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594360" y="1874519"/>
            <a:ext cx="2514600" cy="384048"/>
          </a:xfrm>
          <a:prstGeom prst="roundRect">
            <a:avLst/>
          </a:prstGeom>
          <a:solidFill>
            <a:srgbClr val="087C92"/>
          </a:solidFill>
          <a:ln w="12700">
            <a:solidFill>
              <a:srgbClr val="087C9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94360" y="1874519"/>
            <a:ext cx="2514600" cy="384048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lnSpc>
                <a:spcPct val="105000"/>
              </a:lnSpc>
            </a:pPr>
            <a:r>
              <a:rPr sz="1200" b="1">
                <a:solidFill>
                  <a:srgbClr val="FFFFFF"/>
                </a:solidFill>
                <a:latin typeface="Microsoft YaHei"/>
              </a:rPr>
              <a:t>前端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2450592"/>
            <a:ext cx="2148840" cy="53035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050" b="0">
                <a:solidFill>
                  <a:srgbClr val="45677D"/>
                </a:solidFill>
                <a:latin typeface="Microsoft YaHei"/>
              </a:rPr>
              <a:t>React · Vite · TypeScript
SSE 消费 · 响应式 UI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383279" y="1874519"/>
            <a:ext cx="2514600" cy="1325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3F72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3383279" y="1874519"/>
            <a:ext cx="2514600" cy="384048"/>
          </a:xfrm>
          <a:prstGeom prst="roundRect">
            <a:avLst/>
          </a:prstGeom>
          <a:solidFill>
            <a:srgbClr val="3F72BE"/>
          </a:solidFill>
          <a:ln w="12700">
            <a:solidFill>
              <a:srgbClr val="3F72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383279" y="1874519"/>
            <a:ext cx="2514600" cy="384048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lnSpc>
                <a:spcPct val="105000"/>
              </a:lnSpc>
            </a:pPr>
            <a:r>
              <a:rPr sz="1200" b="1">
                <a:solidFill>
                  <a:srgbClr val="FFFFFF"/>
                </a:solidFill>
                <a:latin typeface="Microsoft YaHei"/>
              </a:rPr>
              <a:t>后端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66160" y="2450592"/>
            <a:ext cx="2148840" cy="53035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050" b="0">
                <a:solidFill>
                  <a:srgbClr val="45677D"/>
                </a:solidFill>
                <a:latin typeface="Microsoft YaHei"/>
              </a:rPr>
              <a:t>Java 21 · Spring Boot 3.4
REST/SSE · 编排 · 门禁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72200" y="1874519"/>
            <a:ext cx="2514600" cy="1325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7763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6172200" y="1874519"/>
            <a:ext cx="2514600" cy="384048"/>
          </a:xfrm>
          <a:prstGeom prst="roundRect">
            <a:avLst/>
          </a:prstGeom>
          <a:solidFill>
            <a:srgbClr val="7763CD"/>
          </a:solidFill>
          <a:ln w="12700">
            <a:solidFill>
              <a:srgbClr val="7763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172200" y="1874519"/>
            <a:ext cx="2514600" cy="384048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lnSpc>
                <a:spcPct val="105000"/>
              </a:lnSpc>
            </a:pPr>
            <a:r>
              <a:rPr sz="1200" b="1">
                <a:solidFill>
                  <a:srgbClr val="FFFFFF"/>
                </a:solidFill>
                <a:latin typeface="Microsoft YaHei"/>
              </a:rPr>
              <a:t>数据与 AI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55080" y="2450592"/>
            <a:ext cx="2148840" cy="53035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050" b="0">
                <a:solidFill>
                  <a:srgbClr val="45677D"/>
                </a:solidFill>
                <a:latin typeface="Microsoft YaHei"/>
              </a:rPr>
              <a:t>MySQL 8 · Chroma · Neo4j
DeepSeek / OpenAI 兼容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961119" y="1874519"/>
            <a:ext cx="2514600" cy="1325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792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8961119" y="1874519"/>
            <a:ext cx="2514600" cy="384048"/>
          </a:xfrm>
          <a:prstGeom prst="roundRect">
            <a:avLst/>
          </a:prstGeom>
          <a:solidFill>
            <a:srgbClr val="E79248"/>
          </a:solidFill>
          <a:ln w="12700">
            <a:solidFill>
              <a:srgbClr val="E792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961119" y="1874519"/>
            <a:ext cx="2514600" cy="384048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lnSpc>
                <a:spcPct val="105000"/>
              </a:lnSpc>
            </a:pPr>
            <a:r>
              <a:rPr sz="1200" b="1">
                <a:solidFill>
                  <a:srgbClr val="FFFFFF"/>
                </a:solidFill>
                <a:latin typeface="Microsoft YaHei"/>
              </a:rPr>
              <a:t>测试与文档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43999" y="2450592"/>
            <a:ext cx="2148840" cy="53035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050" b="0">
                <a:solidFill>
                  <a:srgbClr val="45677D"/>
                </a:solidFill>
                <a:latin typeface="Microsoft YaHei"/>
              </a:rPr>
              <a:t>JUnit · Maven Surefire
场景用例 · Bug 回归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94360" y="3520440"/>
            <a:ext cx="11000232" cy="213969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EF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41248" y="3694176"/>
            <a:ext cx="1005840" cy="27432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1">
                <a:solidFill>
                  <a:srgbClr val="7894A6"/>
                </a:solidFill>
                <a:latin typeface="Microsoft YaHei"/>
              </a:rPr>
              <a:t>角色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965960" y="3694176"/>
            <a:ext cx="5852160" cy="27432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1">
                <a:solidFill>
                  <a:srgbClr val="7894A6"/>
                </a:solidFill>
                <a:latin typeface="Microsoft YaHei"/>
              </a:rPr>
              <a:t>负责内容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549640" y="3694176"/>
            <a:ext cx="2103120" cy="27432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1">
                <a:solidFill>
                  <a:srgbClr val="7894A6"/>
                </a:solidFill>
                <a:latin typeface="Microsoft YaHei"/>
              </a:rPr>
              <a:t>成员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804672" y="4041648"/>
            <a:ext cx="10488168" cy="0"/>
          </a:xfrm>
          <a:prstGeom prst="line">
            <a:avLst/>
          </a:prstGeom>
          <a:ln w="12700">
            <a:solidFill>
              <a:srgbClr val="D6EF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TextBox 27"/>
          <p:cNvSpPr txBox="1"/>
          <p:nvPr/>
        </p:nvSpPr>
        <p:spPr>
          <a:xfrm>
            <a:off x="841248" y="4169663"/>
            <a:ext cx="1078992" cy="292608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1">
                <a:solidFill>
                  <a:srgbClr val="163B5C"/>
                </a:solidFill>
                <a:latin typeface="Microsoft YaHei"/>
              </a:rPr>
              <a:t>产品 / 文档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965960" y="4169663"/>
            <a:ext cx="6126480" cy="292608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>
                <a:solidFill>
                  <a:srgbClr val="45677D"/>
                </a:solidFill>
                <a:latin typeface="Microsoft YaHei"/>
              </a:rPr>
              <a:t>范围、报告、PPT、演示剧本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549640" y="4169663"/>
            <a:ext cx="1828800" cy="292608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>
                <a:solidFill>
                  <a:srgbClr val="7894A6"/>
                </a:solidFill>
                <a:latin typeface="Microsoft YaHei"/>
              </a:rPr>
              <a:t>________________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41248" y="4608575"/>
            <a:ext cx="1078992" cy="292608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1">
                <a:solidFill>
                  <a:srgbClr val="163B5C"/>
                </a:solidFill>
                <a:latin typeface="Microsoft YaHei"/>
              </a:rPr>
              <a:t>后端 / 检索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965960" y="4608575"/>
            <a:ext cx="6126480" cy="292608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>
                <a:solidFill>
                  <a:srgbClr val="45677D"/>
                </a:solidFill>
                <a:latin typeface="Microsoft YaHei"/>
              </a:rPr>
              <a:t>问诊编排、RAG、门禁、会话、就诊卡 API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549640" y="4608575"/>
            <a:ext cx="1828800" cy="292608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>
                <a:solidFill>
                  <a:srgbClr val="7894A6"/>
                </a:solidFill>
                <a:latin typeface="Microsoft YaHei"/>
              </a:rPr>
              <a:t>________________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41248" y="5047488"/>
            <a:ext cx="1078992" cy="292608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1">
                <a:solidFill>
                  <a:srgbClr val="163B5C"/>
                </a:solidFill>
                <a:latin typeface="Microsoft YaHei"/>
              </a:rPr>
              <a:t>前端 / 测试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965960" y="5047488"/>
            <a:ext cx="6126480" cy="292608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>
                <a:solidFill>
                  <a:srgbClr val="45677D"/>
                </a:solidFill>
                <a:latin typeface="Microsoft YaHei"/>
              </a:rPr>
              <a:t>三页 UI、历史交互、多媒体、用例与回归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549640" y="5047488"/>
            <a:ext cx="1828800" cy="292608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>
                <a:solidFill>
                  <a:srgbClr val="7894A6"/>
                </a:solidFill>
                <a:latin typeface="Microsoft YaHei"/>
              </a:rPr>
              <a:t>________________</a:t>
            </a:r>
          </a:p>
        </p:txBody>
      </p:sp>
      <p:cxnSp>
        <p:nvCxnSpPr>
          <p:cNvPr id="37" name="Connector 36"/>
          <p:cNvCxnSpPr/>
          <p:nvPr/>
        </p:nvCxnSpPr>
        <p:spPr>
          <a:xfrm>
            <a:off x="502920" y="6510528"/>
            <a:ext cx="11183112" cy="0"/>
          </a:xfrm>
          <a:prstGeom prst="line">
            <a:avLst/>
          </a:prstGeom>
          <a:ln w="10160">
            <a:solidFill>
              <a:srgbClr val="D6EF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TextBox 37"/>
          <p:cNvSpPr txBox="1"/>
          <p:nvPr/>
        </p:nvSpPr>
        <p:spPr>
          <a:xfrm>
            <a:off x="530352" y="6547104"/>
            <a:ext cx="4937760" cy="16459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800" b="0">
                <a:solidFill>
                  <a:srgbClr val="7894A6"/>
                </a:solidFill>
                <a:latin typeface="Microsoft YaHei"/>
              </a:rPr>
              <a:t>青禾门诊 · 智能问诊 · 教学参考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201400" y="6528816"/>
            <a:ext cx="438912" cy="18288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r">
              <a:lnSpc>
                <a:spcPct val="105000"/>
              </a:lnSpc>
            </a:pPr>
            <a:r>
              <a:rPr sz="900" b="1">
                <a:solidFill>
                  <a:srgbClr val="087C92"/>
                </a:solidFill>
                <a:latin typeface="Microsoft YaHei"/>
              </a:rPr>
              <a:t>09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C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Heart 1"/>
          <p:cNvSpPr/>
          <p:nvPr/>
        </p:nvSpPr>
        <p:spPr>
          <a:xfrm>
            <a:off x="347472" y="210312"/>
            <a:ext cx="292608" cy="292608"/>
          </a:xfrm>
          <a:prstGeom prst="heart">
            <a:avLst/>
          </a:prstGeom>
          <a:solidFill>
            <a:srgbClr val="12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164592"/>
            <a:ext cx="1645920" cy="30175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300" b="1">
                <a:solidFill>
                  <a:srgbClr val="087C92"/>
                </a:solidFill>
                <a:latin typeface="Microsoft YaHei"/>
              </a:rPr>
              <a:t>青禾门诊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76072" y="713232"/>
            <a:ext cx="2926080" cy="22860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1">
                <a:solidFill>
                  <a:srgbClr val="12B8A6"/>
                </a:solidFill>
                <a:latin typeface="Microsoft YaHei"/>
              </a:rPr>
              <a:t>10  WRAP-UP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941832"/>
            <a:ext cx="10698480" cy="56692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2700" b="1">
                <a:solidFill>
                  <a:srgbClr val="163B5C"/>
                </a:solidFill>
                <a:latin typeface="Microsoft YaHei"/>
              </a:rPr>
              <a:t>从“会聊天”到“可运行、可解释、可回归”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85216" y="1490472"/>
            <a:ext cx="10607040" cy="31089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0">
                <a:solidFill>
                  <a:srgbClr val="7894A6"/>
                </a:solidFill>
                <a:latin typeface="Microsoft YaHei"/>
              </a:rPr>
              <a:t>项目完成了完整软件工程闭环，也保留了清晰的后续改进方向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4360" y="1874519"/>
            <a:ext cx="4663440" cy="3931920"/>
          </a:xfrm>
          <a:prstGeom prst="roundRect">
            <a:avLst/>
          </a:prstGeom>
          <a:solidFill>
            <a:srgbClr val="087C92"/>
          </a:solidFill>
          <a:ln w="12700">
            <a:solidFill>
              <a:srgbClr val="087C9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96112" y="2148840"/>
            <a:ext cx="1143000" cy="310896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1">
                <a:solidFill>
                  <a:srgbClr val="EAFBFA"/>
                </a:solidFill>
                <a:latin typeface="Microsoft YaHei"/>
              </a:rPr>
              <a:t>已完成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96112" y="2651760"/>
            <a:ext cx="3566160" cy="100584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2700" b="1">
                <a:solidFill>
                  <a:srgbClr val="FFFFFF"/>
                </a:solidFill>
                <a:latin typeface="Microsoft YaHei"/>
              </a:rPr>
              <a:t>一个可演示的
智能问诊软件系统</a:t>
            </a:r>
          </a:p>
        </p:txBody>
      </p:sp>
      <p:sp>
        <p:nvSpPr>
          <p:cNvPr id="10" name="Oval 9"/>
          <p:cNvSpPr/>
          <p:nvPr/>
        </p:nvSpPr>
        <p:spPr>
          <a:xfrm>
            <a:off x="932688" y="3995928"/>
            <a:ext cx="100584" cy="100584"/>
          </a:xfrm>
          <a:prstGeom prst="ellipse">
            <a:avLst/>
          </a:prstGeom>
          <a:solidFill>
            <a:srgbClr val="B3EFEA"/>
          </a:solidFill>
          <a:ln w="12700">
            <a:solidFill>
              <a:srgbClr val="B3EF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33856" y="3886200"/>
            <a:ext cx="3410712" cy="34747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200" b="0">
                <a:solidFill>
                  <a:srgbClr val="FFFFFF"/>
                </a:solidFill>
                <a:latin typeface="Microsoft YaHei"/>
              </a:rPr>
              <a:t>问诊 + RAG + 门禁</a:t>
            </a:r>
          </a:p>
        </p:txBody>
      </p:sp>
      <p:sp>
        <p:nvSpPr>
          <p:cNvPr id="12" name="Oval 11"/>
          <p:cNvSpPr/>
          <p:nvPr/>
        </p:nvSpPr>
        <p:spPr>
          <a:xfrm>
            <a:off x="932688" y="4389120"/>
            <a:ext cx="100584" cy="100584"/>
          </a:xfrm>
          <a:prstGeom prst="ellipse">
            <a:avLst/>
          </a:prstGeom>
          <a:solidFill>
            <a:srgbClr val="B3EFEA"/>
          </a:solidFill>
          <a:ln w="12700">
            <a:solidFill>
              <a:srgbClr val="B3EF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33856" y="4279392"/>
            <a:ext cx="3410712" cy="34747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200" b="0">
                <a:solidFill>
                  <a:srgbClr val="FFFFFF"/>
                </a:solidFill>
                <a:latin typeface="Microsoft YaHei"/>
              </a:rPr>
              <a:t>就诊卡 + 历史 + 知识库</a:t>
            </a:r>
          </a:p>
        </p:txBody>
      </p:sp>
      <p:sp>
        <p:nvSpPr>
          <p:cNvPr id="14" name="Oval 13"/>
          <p:cNvSpPr/>
          <p:nvPr/>
        </p:nvSpPr>
        <p:spPr>
          <a:xfrm>
            <a:off x="932688" y="4782312"/>
            <a:ext cx="100584" cy="100584"/>
          </a:xfrm>
          <a:prstGeom prst="ellipse">
            <a:avLst/>
          </a:prstGeom>
          <a:solidFill>
            <a:srgbClr val="B3EFEA"/>
          </a:solidFill>
          <a:ln w="12700">
            <a:solidFill>
              <a:srgbClr val="B3EF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133856" y="4672584"/>
            <a:ext cx="3410712" cy="34747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200" b="0">
                <a:solidFill>
                  <a:srgbClr val="FFFFFF"/>
                </a:solidFill>
                <a:latin typeface="Microsoft YaHei"/>
              </a:rPr>
              <a:t>多媒体输入 + 优雅降级</a:t>
            </a:r>
          </a:p>
        </p:txBody>
      </p:sp>
      <p:sp>
        <p:nvSpPr>
          <p:cNvPr id="16" name="Oval 15"/>
          <p:cNvSpPr/>
          <p:nvPr/>
        </p:nvSpPr>
        <p:spPr>
          <a:xfrm>
            <a:off x="932688" y="5175504"/>
            <a:ext cx="100584" cy="100584"/>
          </a:xfrm>
          <a:prstGeom prst="ellipse">
            <a:avLst/>
          </a:prstGeom>
          <a:solidFill>
            <a:srgbClr val="B3EFEA"/>
          </a:solidFill>
          <a:ln w="12700">
            <a:solidFill>
              <a:srgbClr val="B3EF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133856" y="5065776"/>
            <a:ext cx="3410712" cy="34747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200" b="0">
                <a:solidFill>
                  <a:srgbClr val="FFFFFF"/>
                </a:solidFill>
                <a:latin typeface="Microsoft YaHei"/>
              </a:rPr>
              <a:t>测试用例 + Bug 回归 + 项目报告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559552" y="1874519"/>
            <a:ext cx="6035040" cy="16916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EF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852160" y="2103120"/>
            <a:ext cx="1280160" cy="292608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1">
                <a:solidFill>
                  <a:srgbClr val="163B5C"/>
                </a:solidFill>
                <a:latin typeface="Microsoft YaHei"/>
              </a:rPr>
              <a:t>当前不足</a:t>
            </a:r>
          </a:p>
        </p:txBody>
      </p:sp>
      <p:sp>
        <p:nvSpPr>
          <p:cNvPr id="20" name="Oval 19"/>
          <p:cNvSpPr/>
          <p:nvPr/>
        </p:nvSpPr>
        <p:spPr>
          <a:xfrm>
            <a:off x="5870448" y="2615184"/>
            <a:ext cx="100584" cy="100584"/>
          </a:xfrm>
          <a:prstGeom prst="ellipse">
            <a:avLst/>
          </a:prstGeom>
          <a:solidFill>
            <a:srgbClr val="12B8A6"/>
          </a:solidFill>
          <a:ln w="12700">
            <a:solidFill>
              <a:srgbClr val="12B8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071616" y="2505456"/>
            <a:ext cx="4965192" cy="34747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>
                <a:solidFill>
                  <a:srgbClr val="CD4554"/>
                </a:solidFill>
                <a:latin typeface="Microsoft YaHei"/>
              </a:rPr>
              <a:t>知识覆盖仍以教学资料包为主</a:t>
            </a:r>
          </a:p>
        </p:txBody>
      </p:sp>
      <p:sp>
        <p:nvSpPr>
          <p:cNvPr id="22" name="Oval 21"/>
          <p:cNvSpPr/>
          <p:nvPr/>
        </p:nvSpPr>
        <p:spPr>
          <a:xfrm>
            <a:off x="5870448" y="2916936"/>
            <a:ext cx="100584" cy="100584"/>
          </a:xfrm>
          <a:prstGeom prst="ellipse">
            <a:avLst/>
          </a:prstGeom>
          <a:solidFill>
            <a:srgbClr val="12B8A6"/>
          </a:solidFill>
          <a:ln w="12700">
            <a:solidFill>
              <a:srgbClr val="12B8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071616" y="2807208"/>
            <a:ext cx="4965192" cy="34747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>
                <a:solidFill>
                  <a:srgbClr val="CD4554"/>
                </a:solidFill>
                <a:latin typeface="Microsoft YaHei"/>
              </a:rPr>
              <a:t>前端 E2E 与高并发压测尚未补齐</a:t>
            </a:r>
          </a:p>
        </p:txBody>
      </p:sp>
      <p:sp>
        <p:nvSpPr>
          <p:cNvPr id="24" name="Oval 23"/>
          <p:cNvSpPr/>
          <p:nvPr/>
        </p:nvSpPr>
        <p:spPr>
          <a:xfrm>
            <a:off x="5870448" y="3218688"/>
            <a:ext cx="100584" cy="100584"/>
          </a:xfrm>
          <a:prstGeom prst="ellipse">
            <a:avLst/>
          </a:prstGeom>
          <a:solidFill>
            <a:srgbClr val="12B8A6"/>
          </a:solidFill>
          <a:ln w="12700">
            <a:solidFill>
              <a:srgbClr val="12B8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071616" y="3108960"/>
            <a:ext cx="4965192" cy="34747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>
                <a:solidFill>
                  <a:srgbClr val="CD4554"/>
                </a:solidFill>
                <a:latin typeface="Microsoft YaHei"/>
              </a:rPr>
              <a:t>多用户权限未纳入课程演示范围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559552" y="3822191"/>
            <a:ext cx="6035040" cy="19842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EF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852160" y="4050791"/>
            <a:ext cx="1280160" cy="292608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1">
                <a:solidFill>
                  <a:srgbClr val="163B5C"/>
                </a:solidFill>
                <a:latin typeface="Microsoft YaHei"/>
              </a:rPr>
              <a:t>下一步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870448" y="4498848"/>
            <a:ext cx="777240" cy="329184"/>
          </a:xfrm>
          <a:prstGeom prst="roundRect">
            <a:avLst/>
          </a:prstGeom>
          <a:solidFill>
            <a:srgbClr val="EAFBFA"/>
          </a:solidFill>
          <a:ln w="12700">
            <a:solidFill>
              <a:srgbClr val="EAFB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870448" y="4498848"/>
            <a:ext cx="777240" cy="329184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lnSpc>
                <a:spcPct val="105000"/>
              </a:lnSpc>
            </a:pPr>
            <a:r>
              <a:rPr sz="1000" b="1">
                <a:solidFill>
                  <a:srgbClr val="087C92"/>
                </a:solidFill>
                <a:latin typeface="Microsoft YaHei"/>
              </a:rPr>
              <a:t>扩知识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839712" y="4498848"/>
            <a:ext cx="3931920" cy="329184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>
                <a:solidFill>
                  <a:srgbClr val="45677D"/>
                </a:solidFill>
                <a:latin typeface="Microsoft YaHei"/>
              </a:rPr>
              <a:t>更多病种与权威资料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5870448" y="4892040"/>
            <a:ext cx="777240" cy="329184"/>
          </a:xfrm>
          <a:prstGeom prst="roundRect">
            <a:avLst/>
          </a:prstGeom>
          <a:solidFill>
            <a:srgbClr val="EAFBFA"/>
          </a:solidFill>
          <a:ln w="12700">
            <a:solidFill>
              <a:srgbClr val="EAFB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870448" y="4892040"/>
            <a:ext cx="777240" cy="329184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lnSpc>
                <a:spcPct val="105000"/>
              </a:lnSpc>
            </a:pPr>
            <a:r>
              <a:rPr sz="1000" b="1">
                <a:solidFill>
                  <a:srgbClr val="087C92"/>
                </a:solidFill>
                <a:latin typeface="Microsoft YaHei"/>
              </a:rPr>
              <a:t>补测试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839712" y="4892040"/>
            <a:ext cx="3931920" cy="329184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>
                <a:solidFill>
                  <a:srgbClr val="45677D"/>
                </a:solidFill>
                <a:latin typeface="Microsoft YaHei"/>
              </a:rPr>
              <a:t>Playwright + 性能冒烟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5870448" y="5285232"/>
            <a:ext cx="777240" cy="329184"/>
          </a:xfrm>
          <a:prstGeom prst="roundRect">
            <a:avLst/>
          </a:prstGeom>
          <a:solidFill>
            <a:srgbClr val="EAFBFA"/>
          </a:solidFill>
          <a:ln w="12700">
            <a:solidFill>
              <a:srgbClr val="EAFB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870448" y="5285232"/>
            <a:ext cx="777240" cy="329184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lnSpc>
                <a:spcPct val="105000"/>
              </a:lnSpc>
            </a:pPr>
            <a:r>
              <a:rPr sz="1000" b="1">
                <a:solidFill>
                  <a:srgbClr val="087C92"/>
                </a:solidFill>
                <a:latin typeface="Microsoft YaHei"/>
              </a:rPr>
              <a:t>强解释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839712" y="5285232"/>
            <a:ext cx="3931920" cy="329184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>
                <a:solidFill>
                  <a:srgbClr val="45677D"/>
                </a:solidFill>
                <a:latin typeface="Microsoft YaHei"/>
              </a:rPr>
              <a:t>检索证据与降级状态可视化</a:t>
            </a:r>
          </a:p>
        </p:txBody>
      </p:sp>
      <p:cxnSp>
        <p:nvCxnSpPr>
          <p:cNvPr id="37" name="Connector 36"/>
          <p:cNvCxnSpPr/>
          <p:nvPr/>
        </p:nvCxnSpPr>
        <p:spPr>
          <a:xfrm>
            <a:off x="502920" y="6510528"/>
            <a:ext cx="11183112" cy="0"/>
          </a:xfrm>
          <a:prstGeom prst="line">
            <a:avLst/>
          </a:prstGeom>
          <a:ln w="10160">
            <a:solidFill>
              <a:srgbClr val="D6EF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TextBox 37"/>
          <p:cNvSpPr txBox="1"/>
          <p:nvPr/>
        </p:nvSpPr>
        <p:spPr>
          <a:xfrm>
            <a:off x="530352" y="6547104"/>
            <a:ext cx="4937760" cy="16459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800" b="0">
                <a:solidFill>
                  <a:srgbClr val="7894A6"/>
                </a:solidFill>
                <a:latin typeface="Microsoft YaHei"/>
              </a:rPr>
              <a:t>青禾门诊 · 智能问诊 · 教学参考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201400" y="6528816"/>
            <a:ext cx="438912" cy="18288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r">
              <a:lnSpc>
                <a:spcPct val="105000"/>
              </a:lnSpc>
            </a:pPr>
            <a:r>
              <a:rPr sz="900" b="1">
                <a:solidFill>
                  <a:srgbClr val="087C92"/>
                </a:solidFill>
                <a:latin typeface="Microsoft YaHei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7C9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Heart 1"/>
          <p:cNvSpPr/>
          <p:nvPr/>
        </p:nvSpPr>
        <p:spPr>
          <a:xfrm>
            <a:off x="347472" y="210312"/>
            <a:ext cx="292608" cy="292608"/>
          </a:xfrm>
          <a:prstGeom prst="hear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164592"/>
            <a:ext cx="1645920" cy="30175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300" b="1">
                <a:solidFill>
                  <a:srgbClr val="FFFFFF"/>
                </a:solidFill>
                <a:latin typeface="Microsoft YaHei"/>
              </a:rPr>
              <a:t>青禾门诊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243584"/>
            <a:ext cx="4754880" cy="77724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4400" b="1">
                <a:solidFill>
                  <a:srgbClr val="FFFFFF"/>
                </a:solidFill>
                <a:latin typeface="Microsoft YaHei"/>
              </a:rPr>
              <a:t>谢谢聆听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04088" y="2139696"/>
            <a:ext cx="4389120" cy="384048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900" b="0">
                <a:solidFill>
                  <a:srgbClr val="EAFBFA"/>
                </a:solidFill>
                <a:latin typeface="Microsoft YaHei"/>
              </a:rPr>
              <a:t>青禾门诊 · 智能问诊系统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13232" y="2788920"/>
            <a:ext cx="4361688" cy="0"/>
          </a:xfrm>
          <a:prstGeom prst="line">
            <a:avLst/>
          </a:prstGeom>
          <a:ln w="15240">
            <a:solidFill>
              <a:srgbClr val="5CC2C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13232" y="3035808"/>
            <a:ext cx="4114800" cy="36576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600" b="1">
                <a:solidFill>
                  <a:srgbClr val="FFFFFF"/>
                </a:solidFill>
                <a:latin typeface="Microsoft YaHei"/>
              </a:rPr>
              <a:t>AI 让医疗更有温度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3232" y="3511296"/>
            <a:ext cx="4754880" cy="310896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0">
                <a:solidFill>
                  <a:srgbClr val="C6F0EE"/>
                </a:solidFill>
                <a:latin typeface="Microsoft YaHei"/>
              </a:rPr>
              <a:t>教学演示 · 不替代面诊 · 不生成真实处方</a:t>
            </a:r>
          </a:p>
        </p:txBody>
      </p:sp>
      <p:sp>
        <p:nvSpPr>
          <p:cNvPr id="9" name="Oval 8"/>
          <p:cNvSpPr/>
          <p:nvPr/>
        </p:nvSpPr>
        <p:spPr>
          <a:xfrm>
            <a:off x="6812280" y="731520"/>
            <a:ext cx="4480560" cy="4480560"/>
          </a:xfrm>
          <a:prstGeom prst="ellipse">
            <a:avLst/>
          </a:prstGeom>
          <a:solidFill>
            <a:srgbClr val="F3FDFC"/>
          </a:solidFill>
          <a:ln w="12700">
            <a:solidFill>
              <a:srgbClr val="B1E6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ai_robo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78040" y="1078992"/>
            <a:ext cx="3749039" cy="3749039"/>
          </a:xfrm>
          <a:prstGeom prst="rect">
            <a:avLst/>
          </a:prstGeom>
        </p:spPr>
      </p:pic>
      <p:sp>
        <p:nvSpPr>
          <p:cNvPr id="11" name="Rounded Rectangle 10"/>
          <p:cNvSpPr/>
          <p:nvPr/>
        </p:nvSpPr>
        <p:spPr>
          <a:xfrm>
            <a:off x="7086600" y="5010912"/>
            <a:ext cx="3886200" cy="640080"/>
          </a:xfrm>
          <a:prstGeom prst="roundRect">
            <a:avLst/>
          </a:prstGeom>
          <a:solidFill>
            <a:srgbClr val="0E8997"/>
          </a:solidFill>
          <a:ln w="12700">
            <a:solidFill>
              <a:srgbClr val="37B2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086600" y="5010912"/>
            <a:ext cx="3886200" cy="64008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lnSpc>
                <a:spcPct val="105000"/>
              </a:lnSpc>
            </a:pPr>
            <a:r>
              <a:rPr sz="1500" b="1">
                <a:solidFill>
                  <a:srgbClr val="FFFFFF"/>
                </a:solidFill>
                <a:latin typeface="Microsoft YaHei"/>
              </a:rPr>
              <a:t>欢迎现场交流与提问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173968" y="6473952"/>
            <a:ext cx="365760" cy="201168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r">
              <a:lnSpc>
                <a:spcPct val="105000"/>
              </a:lnSpc>
            </a:pPr>
            <a:r>
              <a:rPr sz="900" b="1">
                <a:solidFill>
                  <a:srgbClr val="EAFBFA"/>
                </a:solidFill>
                <a:latin typeface="Microsoft YaHei"/>
              </a:rPr>
              <a:t>11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青禾门诊智能问诊系统·课堂汇报</dc:title>
  <dc:subject>软件工程课程小组项目</dc:subject>
  <dc:creator>青禾门诊项目组</dc:creator>
  <cp:keywords>智能问诊,RAG,安全门禁,软件工程</cp:keywords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